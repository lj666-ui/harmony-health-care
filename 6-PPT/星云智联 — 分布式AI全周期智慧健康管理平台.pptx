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28905200" cy="16256000"/>
  <p:notesSz cx="16256000" cy="28905200"/>
  <p:embeddedFontLst>
    <p:embeddedFont>
      <p:font typeface="Quattrocento Sans" charset="-122" pitchFamily="34"/>
      <p:regular r:id="rId3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1354709" y="3160903"/>
            <a:ext cx="11288903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92149" y="3079623"/>
            <a:ext cx="11614023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70229" y="3018663"/>
            <a:ext cx="11857863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spc="533" kern="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INTRODUCTION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54709" y="4109212"/>
            <a:ext cx="24835612" cy="17158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92149" y="4027932"/>
            <a:ext cx="25160732" cy="18784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70229" y="3966972"/>
            <a:ext cx="25404572" cy="2000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78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星云智联 — 分布式AI全周期智慧健康管理平台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54709" y="6050788"/>
            <a:ext cx="2257767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92149" y="5969508"/>
            <a:ext cx="22902799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70229" y="5908548"/>
            <a:ext cx="2314663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88888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 HarmonyOS 的智慧医疗创新实践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54709" y="7134479"/>
            <a:ext cx="2619032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9708388"/>
            <a:ext cx="28899612" cy="6547612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4" name="Shape 12"/>
          <p:cNvSpPr/>
          <p:nvPr/>
        </p:nvSpPr>
        <p:spPr>
          <a:xfrm>
            <a:off x="1354709" y="10792079"/>
            <a:ext cx="13546709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92149" y="10710799"/>
            <a:ext cx="13871829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70229" y="10649839"/>
            <a:ext cx="14115669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团队：于世杰 · 李健 · 刘丰泽 · 李映奎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54709" y="11650091"/>
            <a:ext cx="11288903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92149" y="11568811"/>
            <a:ext cx="11614023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70229" y="11507851"/>
            <a:ext cx="11857863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项目类型：HarmonyOS 分布式智慧医疗应用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54709" y="12553188"/>
            <a:ext cx="13546709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92149" y="12471908"/>
            <a:ext cx="13871829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70229" y="12410948"/>
            <a:ext cx="14115669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FFFFFF">
                    <a:alpha val="7254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技术栈：ArkTS · Spring Boot · AI大模型 · 分布式软总线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54709" y="13456412"/>
            <a:ext cx="6773291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92149" y="13375132"/>
            <a:ext cx="7098411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70229" y="13314172"/>
            <a:ext cx="7342251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90" dirty="0">
                <a:solidFill>
                  <a:srgbClr val="FFFFFF">
                    <a:alpha val="5254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2026年5月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8062321" y="14133703"/>
            <a:ext cx="9482709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899761" y="14052423"/>
            <a:ext cx="9807829" cy="15172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7777841" y="13991463"/>
            <a:ext cx="10051669" cy="16391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8530" dirty="0">
                <a:solidFill>
                  <a:srgbClr val="FFFFFF">
                    <a:alpha val="235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NEBULA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1354709" y="1128903"/>
            <a:ext cx="6773291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92149" y="1047623"/>
            <a:ext cx="7098411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70229" y="986663"/>
            <a:ext cx="7342251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54709" y="2348103"/>
            <a:ext cx="6773291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92149" y="2266823"/>
            <a:ext cx="7098411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70229" y="2205863"/>
            <a:ext cx="7342251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90" spc="711" kern="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54709" y="3115691"/>
            <a:ext cx="2619032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1354709" y="3567303"/>
            <a:ext cx="1354709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92149" y="3486023"/>
            <a:ext cx="1679829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70229" y="3425063"/>
            <a:ext cx="1923669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97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35097" y="3680079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2537" y="3598799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650617" y="3537839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6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935097" y="4357497"/>
            <a:ext cx="15804388" cy="451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72537" y="4276217"/>
            <a:ext cx="16129508" cy="614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650617" y="4215257"/>
            <a:ext cx="16373348" cy="73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1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54709" y="5057521"/>
            <a:ext cx="2619032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Shape 18"/>
          <p:cNvSpPr/>
          <p:nvPr/>
        </p:nvSpPr>
        <p:spPr>
          <a:xfrm>
            <a:off x="1354709" y="5418709"/>
            <a:ext cx="1354709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92149" y="5337429"/>
            <a:ext cx="1679829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70229" y="5276469"/>
            <a:ext cx="1923669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97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935097" y="5531612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2537" y="5450332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650617" y="5389372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6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核心创新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935097" y="6208903"/>
            <a:ext cx="15804388" cy="451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2537" y="6127623"/>
            <a:ext cx="16129508" cy="614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650617" y="6066663"/>
            <a:ext cx="16373348" cy="73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1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Innovations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354709" y="6908800"/>
            <a:ext cx="2619032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54709" y="7269988"/>
            <a:ext cx="1354709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92149" y="7188708"/>
            <a:ext cx="1679829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70229" y="7127748"/>
            <a:ext cx="1923669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97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935097" y="7382891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772537" y="7301611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650617" y="7240651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6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935097" y="8060309"/>
            <a:ext cx="15804388" cy="451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2537" y="7979029"/>
            <a:ext cx="16129508" cy="614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650617" y="7918069"/>
            <a:ext cx="16373348" cy="73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1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354709" y="8760079"/>
            <a:ext cx="2619032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Shape 38"/>
          <p:cNvSpPr/>
          <p:nvPr/>
        </p:nvSpPr>
        <p:spPr>
          <a:xfrm>
            <a:off x="1354709" y="9121521"/>
            <a:ext cx="1354709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92149" y="9040241"/>
            <a:ext cx="1679829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70229" y="8979281"/>
            <a:ext cx="1923669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97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935097" y="9234297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772537" y="9153017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650617" y="9092057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6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935097" y="9911588"/>
            <a:ext cx="15804388" cy="451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2772537" y="9830308"/>
            <a:ext cx="16129508" cy="614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650617" y="9769348"/>
            <a:ext cx="16373348" cy="73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1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354709" y="10611612"/>
            <a:ext cx="2619032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0" name="Shape 48"/>
          <p:cNvSpPr/>
          <p:nvPr/>
        </p:nvSpPr>
        <p:spPr>
          <a:xfrm>
            <a:off x="1354709" y="10972800"/>
            <a:ext cx="1354709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192149" y="10891520"/>
            <a:ext cx="1679829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70229" y="10830560"/>
            <a:ext cx="1923669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97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935097" y="11085703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72537" y="11004423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2650617" y="10943463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6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市场与价值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2935097" y="11763121"/>
            <a:ext cx="15804388" cy="451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2772537" y="11681841"/>
            <a:ext cx="16129508" cy="614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2650617" y="11620881"/>
            <a:ext cx="16373348" cy="73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1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&amp; Value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354709" y="12462891"/>
            <a:ext cx="2619032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0" name="Shape 58"/>
          <p:cNvSpPr/>
          <p:nvPr/>
        </p:nvSpPr>
        <p:spPr>
          <a:xfrm>
            <a:off x="1354709" y="12824079"/>
            <a:ext cx="1354709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92149" y="12742799"/>
            <a:ext cx="1679829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70229" y="12681839"/>
            <a:ext cx="1923669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97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2935097" y="12937109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772537" y="12855829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2650617" y="12794869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6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2935097" y="13614400"/>
            <a:ext cx="15804388" cy="451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772537" y="13533120"/>
            <a:ext cx="16129508" cy="614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2650617" y="13472160"/>
            <a:ext cx="16373348" cy="73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31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&amp; Outlook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354709" y="14314297"/>
            <a:ext cx="2619032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0" name="Shape 68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837291" y="3160903"/>
            <a:ext cx="22479" cy="99343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1354709" y="4515612"/>
            <a:ext cx="8579612" cy="4515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2149" y="4434332"/>
            <a:ext cx="8904732" cy="4678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0229" y="4373372"/>
            <a:ext cx="9148572" cy="4800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54709" y="9031097"/>
            <a:ext cx="8579612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92149" y="8949817"/>
            <a:ext cx="8904732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70229" y="8888857"/>
            <a:ext cx="9148572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spc="711" kern="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740388" y="5328412"/>
            <a:ext cx="15804388" cy="12644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577828" y="5247132"/>
            <a:ext cx="16129508" cy="14269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55908" y="5186172"/>
            <a:ext cx="16373348" cy="1548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740388" y="6818503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77828" y="6737223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55908" y="6676263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740388" y="8128000"/>
            <a:ext cx="7224903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40388" y="8579612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77828" y="8498332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55908" y="8437372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1.1　行业现状与核心痛点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740388" y="9392412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77828" y="9311132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55908" y="9250172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　项目目标与定位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899612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320000" y="361188"/>
            <a:ext cx="7676388" cy="4966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57440" y="279908"/>
            <a:ext cx="8001508" cy="6592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035520" y="218948"/>
            <a:ext cx="8245348" cy="781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3097" y="541909"/>
            <a:ext cx="1896529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0537" y="460629"/>
            <a:ext cx="1929041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8617" y="399669"/>
            <a:ext cx="1953425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行业现状与核心痛点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3097" y="1535303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903097" y="1851279"/>
            <a:ext cx="27093291" cy="1264412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12" name="Shape 10"/>
          <p:cNvSpPr/>
          <p:nvPr/>
        </p:nvSpPr>
        <p:spPr>
          <a:xfrm>
            <a:off x="1354709" y="1851279"/>
            <a:ext cx="26190321" cy="12644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92149" y="1769999"/>
            <a:ext cx="26515441" cy="14269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70229" y="1709039"/>
            <a:ext cx="26759281" cy="154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84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当前智慧健康管理领域呈现 </a:t>
            </a:r>
            <a:pPr>
              <a:lnSpc>
                <a:spcPct val="15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"碎片化、孤岛化、体验单一化"</a:t>
            </a:r>
            <a:pPr>
              <a:lnSpc>
                <a:spcPct val="150000"/>
              </a:lnSpc>
            </a:pPr>
            <a:r>
              <a:rPr lang="en-US" sz="284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特征，移动医疗渗透率提升但行业整体服务深度不足。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3097" y="3476879"/>
            <a:ext cx="13095097" cy="5192903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1405509" y="3838321"/>
            <a:ext cx="711200" cy="8128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7" name="Shape 15"/>
          <p:cNvSpPr/>
          <p:nvPr/>
        </p:nvSpPr>
        <p:spPr>
          <a:xfrm>
            <a:off x="2393188" y="3838321"/>
            <a:ext cx="1115352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230628" y="3757041"/>
            <a:ext cx="1147864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108708" y="3696081"/>
            <a:ext cx="1172248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数据互通难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54709" y="4922012"/>
            <a:ext cx="12192000" cy="338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92149" y="4840732"/>
            <a:ext cx="12517120" cy="35492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70229" y="4779772"/>
            <a:ext cx="12760960" cy="3671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跨品牌、跨设备、跨终端的健康数据无法无缝流转，不同品牌手环、血压仪、血糖仪协议不统一，形成"数据孤岛"，用户需在多个应用间手动汇总数据。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901291" y="3476879"/>
            <a:ext cx="13095097" cy="5192903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15454503" y="3838321"/>
            <a:ext cx="609600" cy="8128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25" name="Shape 23"/>
          <p:cNvSpPr/>
          <p:nvPr/>
        </p:nvSpPr>
        <p:spPr>
          <a:xfrm>
            <a:off x="16391509" y="3838321"/>
            <a:ext cx="1115352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228949" y="3757041"/>
            <a:ext cx="1147864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6107029" y="3696081"/>
            <a:ext cx="1172248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体验割裂化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5352903" y="4922012"/>
            <a:ext cx="12192000" cy="338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5190343" y="4840732"/>
            <a:ext cx="12517120" cy="35492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5068423" y="4779772"/>
            <a:ext cx="12760960" cy="3671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单一终端操作模式无法适配家庭场景，老人用智慧屏、子女用手机、看护人用平板，跨端交互成本高，切换体验差。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3097" y="9121521"/>
            <a:ext cx="13095097" cy="5192903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32" name="Shape 30"/>
          <p:cNvSpPr/>
          <p:nvPr/>
        </p:nvSpPr>
        <p:spPr>
          <a:xfrm>
            <a:off x="1253109" y="9482709"/>
            <a:ext cx="1016000" cy="8128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3" name="Shape 31"/>
          <p:cNvSpPr/>
          <p:nvPr/>
        </p:nvSpPr>
        <p:spPr>
          <a:xfrm>
            <a:off x="2393188" y="9482709"/>
            <a:ext cx="1115352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30628" y="9401429"/>
            <a:ext cx="1147864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108708" y="9340469"/>
            <a:ext cx="1172248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服务同质化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354709" y="10566400"/>
            <a:ext cx="12192000" cy="338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92149" y="10485120"/>
            <a:ext cx="12517120" cy="35492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70229" y="10424160"/>
            <a:ext cx="12760960" cy="3671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多数应用仅提供数据采集与展示，缺乏AI驱动的个性化分析、风险预警与全周期干预建议，无法满足慢性病管理等深度需求。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4901291" y="9121521"/>
            <a:ext cx="13095097" cy="5192903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40" name="Shape 38"/>
          <p:cNvSpPr/>
          <p:nvPr/>
        </p:nvSpPr>
        <p:spPr>
          <a:xfrm>
            <a:off x="15352903" y="9482709"/>
            <a:ext cx="812800" cy="8128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1" name="Shape 39"/>
          <p:cNvSpPr/>
          <p:nvPr/>
        </p:nvSpPr>
        <p:spPr>
          <a:xfrm>
            <a:off x="16391509" y="9482709"/>
            <a:ext cx="1115352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6228949" y="9401429"/>
            <a:ext cx="1147864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6107029" y="9340469"/>
            <a:ext cx="1172248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隐私安全弱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5352903" y="10566400"/>
            <a:ext cx="12192000" cy="338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5190343" y="10485120"/>
            <a:ext cx="12517120" cy="35492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5068423" y="10424160"/>
            <a:ext cx="12760960" cy="3671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健康数据属于敏感隐私数据，部分应用存在数据加密不规范、权限管理松散等问题，传输与存储环节存在安全漏洞，隐私泄露风险较高。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899612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320000" y="361188"/>
            <a:ext cx="7676388" cy="4966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57440" y="279908"/>
            <a:ext cx="8001508" cy="6592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035520" y="218948"/>
            <a:ext cx="8245348" cy="781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项目概述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3097" y="541909"/>
            <a:ext cx="1896529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0537" y="460629"/>
            <a:ext cx="1929041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8617" y="399669"/>
            <a:ext cx="1953425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项目目标与定位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3097" y="1535303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903097" y="1986788"/>
            <a:ext cx="8579612" cy="5870321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903097" y="1986788"/>
            <a:ext cx="8579612" cy="1128903"/>
          </a:xfrm>
          <a:prstGeom prst="roundRect">
            <a:avLst>
              <a:gd name="adj" fmla="val 4000"/>
            </a:avLst>
          </a:prstGeom>
          <a:solidFill>
            <a:srgbClr val="123960"/>
          </a:solidFill>
          <a:ln/>
        </p:spPr>
      </p:sp>
      <p:sp>
        <p:nvSpPr>
          <p:cNvPr id="13" name="Shape 11"/>
          <p:cNvSpPr/>
          <p:nvPr/>
        </p:nvSpPr>
        <p:spPr>
          <a:xfrm>
            <a:off x="1354709" y="2212721"/>
            <a:ext cx="677291" cy="67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257679" y="1986788"/>
            <a:ext cx="6773291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095119" y="1905508"/>
            <a:ext cx="7098411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973199" y="1844548"/>
            <a:ext cx="7342251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技术目标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64412" y="3431921"/>
            <a:ext cx="7857109" cy="41542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01852" y="3350641"/>
            <a:ext cx="8182229" cy="43168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79932" y="3289681"/>
            <a:ext cx="8426069" cy="4438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基于 HarmonyOS 分布式能力，构建统一健康数据交互协议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实现跨设备、跨终端健康数据无缝流转与协同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集成 AI 分析引擎，实现智能解读与风险预警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建立全链路数据安全防护体系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0" y="1986788"/>
            <a:ext cx="8579612" cy="5870321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60000" y="1986788"/>
            <a:ext cx="8579612" cy="1128903"/>
          </a:xfrm>
          <a:prstGeom prst="roundRect">
            <a:avLst>
              <a:gd name="adj" fmla="val 4000"/>
            </a:avLst>
          </a:prstGeom>
          <a:solidFill>
            <a:srgbClr val="3A6A9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26903" y="2212721"/>
            <a:ext cx="846709" cy="67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14709" y="1986788"/>
            <a:ext cx="6773291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352149" y="1905508"/>
            <a:ext cx="7098411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230229" y="1844548"/>
            <a:ext cx="7342251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产品目标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521188" y="3431921"/>
            <a:ext cx="7857109" cy="41542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358628" y="3350641"/>
            <a:ext cx="8182229" cy="43168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236708" y="3289681"/>
            <a:ext cx="8426069" cy="4438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打造"多端协同、AI驱动、全周期覆盖"平台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覆盖监测、分析、预警、干预、追踪全流程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适配家庭、社区、远程看护等核心场景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支持手机/平板/智慧屏/手表多终端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9416903" y="1986788"/>
            <a:ext cx="8579612" cy="5870321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30" name="Shape 28"/>
          <p:cNvSpPr/>
          <p:nvPr/>
        </p:nvSpPr>
        <p:spPr>
          <a:xfrm>
            <a:off x="19416903" y="1986788"/>
            <a:ext cx="8579612" cy="1128903"/>
          </a:xfrm>
          <a:prstGeom prst="roundRect">
            <a:avLst>
              <a:gd name="adj" fmla="val 4000"/>
            </a:avLst>
          </a:prstGeom>
          <a:solidFill>
            <a:srgbClr val="1E6A7E"/>
          </a:solidFill>
          <a:ln/>
        </p:spPr>
      </p:sp>
      <p:sp>
        <p:nvSpPr>
          <p:cNvPr id="31" name="Shape 29"/>
          <p:cNvSpPr/>
          <p:nvPr/>
        </p:nvSpPr>
        <p:spPr>
          <a:xfrm>
            <a:off x="19868388" y="2212721"/>
            <a:ext cx="677291" cy="6772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0771612" y="1986788"/>
            <a:ext cx="6773291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609052" y="1905508"/>
            <a:ext cx="7098411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0487132" y="1844548"/>
            <a:ext cx="7342251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价值目标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9778091" y="3431921"/>
            <a:ext cx="7857109" cy="41542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9615531" y="3350641"/>
            <a:ext cx="8182229" cy="43168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9493611" y="3289681"/>
            <a:ext cx="8426069" cy="4438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降低用户健康管理操作成本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提升健康服务个性化与精准度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解决老年人、慢性病患者核心痛点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推动智慧医疗在鸿蒙生态落地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3097" y="8444103"/>
            <a:ext cx="27093291" cy="5870321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39" name="Shape 37"/>
          <p:cNvSpPr/>
          <p:nvPr/>
        </p:nvSpPr>
        <p:spPr>
          <a:xfrm>
            <a:off x="1354709" y="8715121"/>
            <a:ext cx="677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92149" y="8633841"/>
            <a:ext cx="7098411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70229" y="8572881"/>
            <a:ext cx="734225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项目简介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354709" y="9482709"/>
            <a:ext cx="2619032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Shape 41"/>
          <p:cNvSpPr/>
          <p:nvPr/>
        </p:nvSpPr>
        <p:spPr>
          <a:xfrm>
            <a:off x="1354709" y="9798812"/>
            <a:ext cx="26190321" cy="4515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92149" y="9717532"/>
            <a:ext cx="26515441" cy="4678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070229" y="9656572"/>
            <a:ext cx="26759281" cy="480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"星云智联"是基于 </a:t>
            </a:r>
            <a:pPr>
              <a:lnSpc>
                <a:spcPct val="170000"/>
              </a:lnSpc>
            </a:pPr>
            <a:r>
              <a:rPr lang="en-US" sz="284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HarmonyOS Stage 模型</a:t>
            </a:r>
            <a:pPr>
              <a:lnSpc>
                <a:spcPct val="17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开发的多设备协同智慧健康看护应用，深度融合 </a:t>
            </a:r>
            <a:pPr>
              <a:lnSpc>
                <a:spcPct val="170000"/>
              </a:lnSpc>
            </a:pPr>
            <a:r>
              <a:rPr lang="en-US" sz="284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分布式软总线技术</a:t>
            </a:r>
            <a:pPr>
              <a:lnSpc>
                <a:spcPct val="17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实现跨设备互联互通，搭载 </a:t>
            </a:r>
            <a:pPr>
              <a:lnSpc>
                <a:spcPct val="170000"/>
              </a:lnSpc>
            </a:pPr>
            <a:r>
              <a:rPr lang="en-US" sz="284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辅助分析能力</a:t>
            </a:r>
            <a:pPr>
              <a:lnSpc>
                <a:spcPct val="17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，构建覆盖健康数据采集、分析、干预、追踪的全周期管理体系。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300"/>
              </a:spcBef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平台采用前后端分离架构，前端基于 </a:t>
            </a:r>
            <a:pPr>
              <a:lnSpc>
                <a:spcPct val="170000"/>
              </a:lnSpc>
              <a:spcBef>
                <a:spcPts val="1300"/>
              </a:spcBef>
            </a:pPr>
            <a:r>
              <a:rPr lang="en-US" sz="284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ArkTS</a:t>
            </a:r>
            <a:pPr>
              <a:lnSpc>
                <a:spcPct val="170000"/>
              </a:lnSpc>
              <a:spcBef>
                <a:spcPts val="1300"/>
              </a:spcBef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打造跨端一致的交互界面，后端提供安全可靠的数据持久化与接口支持，聚焦 </a:t>
            </a:r>
            <a:pPr>
              <a:lnSpc>
                <a:spcPct val="170000"/>
              </a:lnSpc>
              <a:spcBef>
                <a:spcPts val="1300"/>
              </a:spcBef>
            </a:pPr>
            <a:r>
              <a:rPr lang="en-US" sz="284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轻量化、高安全、多设备联动</a:t>
            </a:r>
            <a:pPr>
              <a:lnSpc>
                <a:spcPct val="170000"/>
              </a:lnSpc>
              <a:spcBef>
                <a:spcPts val="1300"/>
              </a:spcBef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的核心特性，为用户提供健康数据监测、个性化健康建议与隐私防护服务。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837291" y="3160903"/>
            <a:ext cx="22479" cy="99343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1354709" y="4515612"/>
            <a:ext cx="8579612" cy="4515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2149" y="4434332"/>
            <a:ext cx="8904732" cy="4678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0229" y="4373372"/>
            <a:ext cx="9148572" cy="4800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54709" y="9031097"/>
            <a:ext cx="8579612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92149" y="8949817"/>
            <a:ext cx="8904732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70229" y="8888857"/>
            <a:ext cx="9148572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spc="711" kern="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740388" y="5328412"/>
            <a:ext cx="15804388" cy="12644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577828" y="5247132"/>
            <a:ext cx="16129508" cy="14269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55908" y="5186172"/>
            <a:ext cx="16373348" cy="1548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核心创新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740388" y="6818503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77828" y="6737223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55908" y="6676263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Innovations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740388" y="8128000"/>
            <a:ext cx="7224903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40388" y="8579612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77828" y="8498332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55908" y="8437372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　四大核心创新点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740388" y="9392412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77828" y="9311132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55908" y="9250172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2.2　创新应用场景与差异化优势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899612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320000" y="361188"/>
            <a:ext cx="7676388" cy="4966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57440" y="279908"/>
            <a:ext cx="8001508" cy="6592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035520" y="218948"/>
            <a:ext cx="8245348" cy="781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核心创新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3097" y="541909"/>
            <a:ext cx="1896529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0537" y="460629"/>
            <a:ext cx="1929041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8617" y="399669"/>
            <a:ext cx="1953425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四大核心创新点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3097" y="1535303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903097" y="1986788"/>
            <a:ext cx="677291" cy="677291"/>
          </a:xfrm>
          <a:prstGeom prst="ellipse">
            <a:avLst/>
          </a:prstGeom>
          <a:solidFill>
            <a:srgbClr val="1A4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903097" y="1986788"/>
            <a:ext cx="677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0537" y="1905508"/>
            <a:ext cx="1002411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18617" y="1844548"/>
            <a:ext cx="124625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9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941703" y="1986788"/>
            <a:ext cx="26054812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79143" y="1905508"/>
            <a:ext cx="26379932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657223" y="1844548"/>
            <a:ext cx="26623772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分布式多端协同创新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941703" y="2754503"/>
            <a:ext cx="26054812" cy="11739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79143" y="2673223"/>
            <a:ext cx="26379932" cy="13365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657223" y="2612263"/>
            <a:ext cx="26623772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 HarmonyOS 分布式软总线技术，突破设备/终端壁垒，实现健康数据在手机、平板、智慧屏、智能手表间的</a:t>
            </a:r>
            <a:pPr>
              <a:lnSpc>
                <a:spcPct val="160000"/>
              </a:lnSpc>
            </a:pPr>
            <a:r>
              <a:rPr lang="en-US" sz="267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"无感流转、协同处理"</a:t>
            </a:r>
            <a:pPr>
              <a:lnSpc>
                <a:spcPct val="16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，打造跨端一体化体验。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3097" y="4154297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Shape 20"/>
          <p:cNvSpPr/>
          <p:nvPr/>
        </p:nvSpPr>
        <p:spPr>
          <a:xfrm>
            <a:off x="903097" y="4515612"/>
            <a:ext cx="677291" cy="677291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3" name="Shape 21"/>
          <p:cNvSpPr/>
          <p:nvPr/>
        </p:nvSpPr>
        <p:spPr>
          <a:xfrm>
            <a:off x="903097" y="4515612"/>
            <a:ext cx="677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40537" y="4434332"/>
            <a:ext cx="1002411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8617" y="4373372"/>
            <a:ext cx="124625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9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941703" y="4515612"/>
            <a:ext cx="26054812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79143" y="4434332"/>
            <a:ext cx="26379932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657223" y="4373372"/>
            <a:ext cx="26623772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全周期健康分析创新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941703" y="5283200"/>
            <a:ext cx="26054812" cy="13999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779143" y="5201920"/>
            <a:ext cx="26379932" cy="15624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657223" y="5140960"/>
            <a:ext cx="26623772" cy="168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构建轻量化 AI 分析模型，整合血压、血糖、心率、运动、睡眠等多维度数据进行关联分析，实现</a:t>
            </a:r>
            <a:pPr>
              <a:lnSpc>
                <a:spcPct val="160000"/>
              </a:lnSpc>
            </a:pPr>
            <a:r>
              <a:rPr lang="en-US" sz="267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慢性病风险预警</a:t>
            </a:r>
            <a:pPr>
              <a:lnSpc>
                <a:spcPct val="16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与个性化运动/饮食建议，覆盖"监测-分析-预警-干预-追踪"全周期。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3097" y="6683121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1"/>
          <p:cNvSpPr/>
          <p:nvPr/>
        </p:nvSpPr>
        <p:spPr>
          <a:xfrm>
            <a:off x="903097" y="7044309"/>
            <a:ext cx="677291" cy="677291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4" name="Shape 32"/>
          <p:cNvSpPr/>
          <p:nvPr/>
        </p:nvSpPr>
        <p:spPr>
          <a:xfrm>
            <a:off x="903097" y="7044309"/>
            <a:ext cx="677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40537" y="6963029"/>
            <a:ext cx="1002411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18617" y="6902069"/>
            <a:ext cx="124625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9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941703" y="7044309"/>
            <a:ext cx="26054812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779143" y="6963029"/>
            <a:ext cx="26379932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657223" y="6902069"/>
            <a:ext cx="26623772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隐私安全防护创新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941703" y="7811897"/>
            <a:ext cx="26054812" cy="11739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779143" y="7730617"/>
            <a:ext cx="26379932" cy="13365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657223" y="7669657"/>
            <a:ext cx="26623772" cy="1458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 HarmonyOS 安全能力构建</a:t>
            </a:r>
            <a:pPr>
              <a:lnSpc>
                <a:spcPct val="160000"/>
              </a:lnSpc>
            </a:pPr>
            <a:r>
              <a:rPr lang="en-US" sz="267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"采集-传输-存储-使用"全链路加密体系</a:t>
            </a:r>
            <a:pPr>
              <a:lnSpc>
                <a:spcPct val="16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，支持用户自定义数据授权范围（如仅向家人开放部分健康数据），兼顾数据流通与隐私保护。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3097" y="9211691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4" name="Shape 42"/>
          <p:cNvSpPr/>
          <p:nvPr/>
        </p:nvSpPr>
        <p:spPr>
          <a:xfrm>
            <a:off x="903097" y="9572879"/>
            <a:ext cx="677291" cy="677291"/>
          </a:xfrm>
          <a:prstGeom prst="ellipse">
            <a:avLst/>
          </a:prstGeom>
          <a:solidFill>
            <a:srgbClr val="1A4A7A"/>
          </a:solidFill>
          <a:ln/>
        </p:spPr>
      </p:sp>
      <p:sp>
        <p:nvSpPr>
          <p:cNvPr id="45" name="Shape 43"/>
          <p:cNvSpPr/>
          <p:nvPr/>
        </p:nvSpPr>
        <p:spPr>
          <a:xfrm>
            <a:off x="903097" y="9572879"/>
            <a:ext cx="677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40537" y="9491599"/>
            <a:ext cx="1002411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18617" y="9430639"/>
            <a:ext cx="124625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9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941703" y="9572879"/>
            <a:ext cx="26054812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779143" y="9491599"/>
            <a:ext cx="26379932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657223" y="9430639"/>
            <a:ext cx="26623772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场景化交互创新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941703" y="10340721"/>
            <a:ext cx="26054812" cy="13999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779143" y="10259441"/>
            <a:ext cx="26379932" cy="15624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657223" y="10198481"/>
            <a:ext cx="26623772" cy="168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针对不同用户群体定制差异化交互界面：老人端（智慧屏）采用</a:t>
            </a:r>
            <a:pPr>
              <a:lnSpc>
                <a:spcPct val="160000"/>
              </a:lnSpc>
            </a:pPr>
            <a:r>
              <a:rPr lang="en-US" sz="267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大字体、语音交互、极简操作</a:t>
            </a:r>
            <a:pPr>
              <a:lnSpc>
                <a:spcPct val="16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；子女端（手机）侧重数据汇总与远程预警；看护人端（平板）侧重多成员健康管理。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03097" y="11740388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5" name="Shape 53"/>
          <p:cNvSpPr/>
          <p:nvPr/>
        </p:nvSpPr>
        <p:spPr>
          <a:xfrm>
            <a:off x="903097" y="12192000"/>
            <a:ext cx="27093291" cy="2257679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56" name="Shape 54"/>
          <p:cNvSpPr/>
          <p:nvPr/>
        </p:nvSpPr>
        <p:spPr>
          <a:xfrm>
            <a:off x="1354709" y="12372721"/>
            <a:ext cx="26190321" cy="1896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192149" y="12291441"/>
            <a:ext cx="26515441" cy="20590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70229" y="12230481"/>
            <a:ext cx="26759281" cy="2180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67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创新总结：</a:t>
            </a:r>
            <a:pPr>
              <a:lnSpc>
                <a:spcPct val="160000"/>
              </a:lnSpc>
            </a:pPr>
            <a:r>
              <a:rPr lang="en-US" sz="267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本项目以分布式技术为底座，AI分析为核心驱动力，隐私安全为底线保障，场景化交互为体验抓手，构建了"技术+产品+安全+体验"四位一体的创新体系，在同类健康应用中形成了显著的差异化竞争优势。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899612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320000" y="361188"/>
            <a:ext cx="7676388" cy="4966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57440" y="279908"/>
            <a:ext cx="8001508" cy="6592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035520" y="218948"/>
            <a:ext cx="8245348" cy="781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核心创新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3097" y="541909"/>
            <a:ext cx="1896529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0537" y="460629"/>
            <a:ext cx="1929041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8617" y="399669"/>
            <a:ext cx="1953425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创新应用场景与差异化优势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3097" y="1535303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903097" y="1851279"/>
            <a:ext cx="13320903" cy="858012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903097" y="1851279"/>
            <a:ext cx="13320903" cy="8580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0537" y="1769999"/>
            <a:ext cx="13646023" cy="10205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18617" y="1709039"/>
            <a:ext cx="13889863" cy="1142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五大创新功能场景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64412" y="2980309"/>
            <a:ext cx="12598400" cy="1128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01852" y="2899029"/>
            <a:ext cx="12923520" cy="1145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79932" y="2838069"/>
            <a:ext cx="13167360" cy="1157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267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① 分布式健康数据同步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基于软总线打通多设备协议，老人手环心率实时同步到智慧屏与子女手机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1300"/>
              </a:spcBef>
            </a:pPr>
            <a:r>
              <a:rPr lang="en-US" sz="267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② AI 多维度健康分析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整合血压/血糖/睡眠/运动数据关联分析，生成个性化干预建议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1300"/>
              </a:spcBef>
            </a:pPr>
            <a:r>
              <a:rPr lang="en-US" sz="267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③ 跨端协同预警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异常数据自动触发多终端预警：手表震动+手机弹窗+智慧屏语音播报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1300"/>
              </a:spcBef>
            </a:pPr>
            <a:r>
              <a:rPr lang="en-US" sz="267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④ 个性化交互适配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老人端语音操控大图标，子女端数据可视化，看护端多成员管理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1300"/>
              </a:spcBef>
            </a:pPr>
            <a:r>
              <a:rPr lang="en-US" sz="267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⑤ 精细化隐私授权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用户自定义数据授权范围，传输存储全程加密，按需分享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4675612" y="1851279"/>
            <a:ext cx="13320903" cy="858012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75612" y="1851279"/>
            <a:ext cx="13320903" cy="8580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513052" y="1769999"/>
            <a:ext cx="13646023" cy="10205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4391132" y="1709039"/>
            <a:ext cx="13889863" cy="1142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与同类产品差异化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75612" y="2980309"/>
          <a:ext cx="13320903" cy="7224903"/>
        </p:xfrm>
        <a:graphic>
          <a:graphicData uri="http://schemas.openxmlformats.org/drawingml/2006/table">
            <a:tbl>
              <a:tblPr/>
              <a:tblGrid>
                <a:gridCol w="4662316"/>
                <a:gridCol w="4662316"/>
                <a:gridCol w="3996271"/>
              </a:tblGrid>
              <a:tr h="1140774"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对比维度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同类产品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星云智联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1521032"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多端协同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单一终端为主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全场景跨端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521032"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分析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单一指标预警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全周期闭环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1521032"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场景覆盖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基础健康监测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老年/慢性病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521032"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隐私防护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统一授权模式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精细化管控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14675612" y="10611612"/>
            <a:ext cx="13320903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4513052" y="10530332"/>
            <a:ext cx="13646023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4391132" y="10469372"/>
            <a:ext cx="13889863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核心受众人群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4675612" y="11333988"/>
            <a:ext cx="13320903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Shape 24"/>
          <p:cNvSpPr/>
          <p:nvPr/>
        </p:nvSpPr>
        <p:spPr>
          <a:xfrm>
            <a:off x="14675612" y="11604879"/>
            <a:ext cx="13320903" cy="3160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4513052" y="11523599"/>
            <a:ext cx="13646023" cy="3323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4391132" y="11462639"/>
            <a:ext cx="13889863" cy="3445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中老年人群</a:t>
            </a:r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（55-80岁）：慢性病管理，偏好语音/大屏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中青年子女</a:t>
            </a:r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（25-45岁）：远程看护家人健康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家庭看护者</a:t>
            </a:r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（28-60岁）：批量管理多成员数据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慢性病患者</a:t>
            </a:r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（30-70岁）：长期监测与精准干预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837291" y="3160903"/>
            <a:ext cx="22479" cy="99343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1354709" y="4515612"/>
            <a:ext cx="8579612" cy="4515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2149" y="4434332"/>
            <a:ext cx="8904732" cy="4678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0229" y="4373372"/>
            <a:ext cx="9148572" cy="4800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54709" y="9031097"/>
            <a:ext cx="8579612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92149" y="8949817"/>
            <a:ext cx="8904732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70229" y="8888857"/>
            <a:ext cx="9148572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spc="711" kern="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740388" y="5328412"/>
            <a:ext cx="15804388" cy="12644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577828" y="5247132"/>
            <a:ext cx="16129508" cy="14269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55908" y="5186172"/>
            <a:ext cx="16373348" cy="1548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740388" y="6818503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77828" y="6737223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55908" y="6676263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740388" y="8128000"/>
            <a:ext cx="7224903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40388" y="8579612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77828" y="8498332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55908" y="8437372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3.1　HarmonyOS 核心技术能力集成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740388" y="9392412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77828" y="9311132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55908" y="9250172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3.2　AI 智能体架构与五大引擎协同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899612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320000" y="361188"/>
            <a:ext cx="7676388" cy="4966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57440" y="279908"/>
            <a:ext cx="8001508" cy="6592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035520" y="218948"/>
            <a:ext cx="8245348" cy="781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技术架构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3097" y="541909"/>
            <a:ext cx="1896529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0537" y="460629"/>
            <a:ext cx="1929041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8617" y="399669"/>
            <a:ext cx="1953425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HarmonyOS 核心技术能力集成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3097" y="1535303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903097" y="1851279"/>
            <a:ext cx="8579612" cy="406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903097" y="1851279"/>
            <a:ext cx="2257679" cy="58712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03097" y="1851279"/>
            <a:ext cx="2257679" cy="5871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0537" y="1769999"/>
            <a:ext cx="2582799" cy="7496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8617" y="1709039"/>
            <a:ext cx="2826639" cy="871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人工智能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64412" y="2664079"/>
            <a:ext cx="7857109" cy="32059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01852" y="2582799"/>
            <a:ext cx="8182229" cy="33685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79932" y="2521839"/>
            <a:ext cx="8426069" cy="3490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HiAI Engine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：NPU加速视觉识别（影像检测/OCR/姿态估计）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MindSpore Lite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：端侧轻量推理框架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多Agent协作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：小艺+Coze+DeepSeek协同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TTS语音合成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：语音播报与辅助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0" y="1851279"/>
            <a:ext cx="8579612" cy="406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0" y="1851279"/>
            <a:ext cx="2483612" cy="587121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60000" y="1851279"/>
            <a:ext cx="2483612" cy="5871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997440" y="1769999"/>
            <a:ext cx="2808732" cy="7496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0" y="1709039"/>
            <a:ext cx="3052572" cy="871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 增强现实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521188" y="2664079"/>
            <a:ext cx="7857109" cy="29350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358628" y="2582799"/>
            <a:ext cx="8182229" cy="30976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36708" y="2521839"/>
            <a:ext cx="8426069" cy="3219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 Engine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：院内AR实景导航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 Kit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：室内定位与路径规划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四子服务协同：路径+定位+渲染+语音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偏航检测与动态重规划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9416903" y="1851279"/>
            <a:ext cx="8579612" cy="406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16903" y="1851279"/>
            <a:ext cx="2483612" cy="587121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9" name="Shape 27"/>
          <p:cNvSpPr/>
          <p:nvPr/>
        </p:nvSpPr>
        <p:spPr>
          <a:xfrm>
            <a:off x="19416903" y="1851279"/>
            <a:ext cx="2483612" cy="5871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254343" y="1769999"/>
            <a:ext cx="2808732" cy="7496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9132423" y="1709039"/>
            <a:ext cx="3052572" cy="871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分布式软总线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9778091" y="2664079"/>
            <a:ext cx="7857109" cy="29350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15531" y="2582799"/>
            <a:ext cx="8182229" cy="30976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9493611" y="2521839"/>
            <a:ext cx="8426069" cy="3219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分布式数据协同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：跨设备医疗记录同步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手机-手表健康数据双向同步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三级权限控制（医生/家属/患者）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数据脱敏分级策略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3097" y="6366891"/>
            <a:ext cx="8579612" cy="406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36" name="Shape 34"/>
          <p:cNvSpPr/>
          <p:nvPr/>
        </p:nvSpPr>
        <p:spPr>
          <a:xfrm>
            <a:off x="903097" y="6366891"/>
            <a:ext cx="2257679" cy="587121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37" name="Shape 35"/>
          <p:cNvSpPr/>
          <p:nvPr/>
        </p:nvSpPr>
        <p:spPr>
          <a:xfrm>
            <a:off x="903097" y="6366891"/>
            <a:ext cx="2257679" cy="5871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0537" y="6285611"/>
            <a:ext cx="2582799" cy="7496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8617" y="6224651"/>
            <a:ext cx="2826639" cy="871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 物联网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64412" y="7179691"/>
            <a:ext cx="7857109" cy="29350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01852" y="7098411"/>
            <a:ext cx="8182229" cy="30976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79932" y="7037451"/>
            <a:ext cx="8426069" cy="3219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智能病房集成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：病床/输液泵/灯光/空调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插件式设备控制器架构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场景自动化（如"夜间模式"）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实时告警与通知推送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160000" y="6366891"/>
            <a:ext cx="8579612" cy="406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60000" y="6366891"/>
            <a:ext cx="2483612" cy="58712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60000" y="6366891"/>
            <a:ext cx="2483612" cy="5871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997440" y="6285611"/>
            <a:ext cx="2808732" cy="7496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875520" y="6224651"/>
            <a:ext cx="3052572" cy="871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多媒体处理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521188" y="7179691"/>
            <a:ext cx="7857109" cy="29350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358628" y="7098411"/>
            <a:ext cx="8182229" cy="30976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236708" y="7037451"/>
            <a:ext cx="8426069" cy="3219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古籍医书图像复原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：8阶段处理管线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超分辨率重建+色彩恢复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OCR文字提取与智能标注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HiAI视觉能力质量评估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9416903" y="6366891"/>
            <a:ext cx="8579612" cy="4064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52" name="Shape 50"/>
          <p:cNvSpPr/>
          <p:nvPr/>
        </p:nvSpPr>
        <p:spPr>
          <a:xfrm>
            <a:off x="19416903" y="6366891"/>
            <a:ext cx="2032000" cy="587121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3" name="Shape 51"/>
          <p:cNvSpPr/>
          <p:nvPr/>
        </p:nvSpPr>
        <p:spPr>
          <a:xfrm>
            <a:off x="19416903" y="6366891"/>
            <a:ext cx="2032000" cy="5871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9254343" y="6285611"/>
            <a:ext cx="2357120" cy="7496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9132423" y="6224651"/>
            <a:ext cx="2600960" cy="871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系统能力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9778091" y="7179691"/>
            <a:ext cx="7857109" cy="29350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9615531" y="7098411"/>
            <a:ext cx="8182229" cy="30976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9493611" y="7037451"/>
            <a:ext cx="8426069" cy="3219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网络通信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：HTTP+WebSocket双协议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本地RDB数据库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：离线数据缓存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后台任务管理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：定时提醒与采集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位置服务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：AR导航实时定位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03097" y="11063097"/>
            <a:ext cx="27093291" cy="3160903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60" name="Shape 58"/>
          <p:cNvSpPr/>
          <p:nvPr/>
        </p:nvSpPr>
        <p:spPr>
          <a:xfrm>
            <a:off x="1354709" y="11288903"/>
            <a:ext cx="6773291" cy="5871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92149" y="11207623"/>
            <a:ext cx="7098411" cy="7496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70229" y="11146663"/>
            <a:ext cx="7342251" cy="871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技术规范与工程化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354709" y="12011279"/>
            <a:ext cx="26190321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192149" y="11929999"/>
            <a:ext cx="26515441" cy="2194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70229" y="11869039"/>
            <a:ext cx="26759281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权限规范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：最小权限原则，敏感权限运行时申请（when: "inuse"）　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代码规范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：ArkTS严格模式，PascalCase组件命名，完整TypeScript类型定义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UI/UX规范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：遵循ArkUI设计规范，支持长者模式，响应式布局适配phone/tablet/wearable/2in1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5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性能规范</a:t>
            </a:r>
            <a:pPr>
              <a:lnSpc>
                <a:spcPct val="165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：虚拟滚动优化长列表，图片懒加载，完善的Mock测试体系（20+ Mock类）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899612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320000" y="361188"/>
            <a:ext cx="7676388" cy="4966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57440" y="279908"/>
            <a:ext cx="8001508" cy="6592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035520" y="218948"/>
            <a:ext cx="8245348" cy="781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技术架构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3097" y="541909"/>
            <a:ext cx="1896529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0537" y="460629"/>
            <a:ext cx="1929041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8617" y="399669"/>
            <a:ext cx="1953425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智能体架构与五大引擎协同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3097" y="1535303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7676388" y="1851279"/>
            <a:ext cx="13546709" cy="1083691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 w="25400">
            <a:solidFill>
              <a:srgbClr val="1239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76388" y="1851279"/>
            <a:ext cx="13546709" cy="10836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513828" y="1769999"/>
            <a:ext cx="13871829" cy="12462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91908" y="1709039"/>
            <a:ext cx="14115669" cy="1368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AIOrchestrator 统一编排层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 rot="5400000">
            <a:off x="13998321" y="2935097"/>
            <a:ext cx="903097" cy="45161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  <a:ln/>
        </p:spPr>
      </p:sp>
      <p:sp>
        <p:nvSpPr>
          <p:cNvPr id="16" name="Shape 14"/>
          <p:cNvSpPr/>
          <p:nvPr/>
        </p:nvSpPr>
        <p:spPr>
          <a:xfrm>
            <a:off x="903097" y="3612388"/>
            <a:ext cx="6321679" cy="4515612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8903" y="3793109"/>
            <a:ext cx="5870321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66343" y="3711829"/>
            <a:ext cx="6195441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44423" y="3650869"/>
            <a:ext cx="6439281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Coze 扣子智能体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28903" y="4470400"/>
            <a:ext cx="5870321" cy="451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66343" y="4389120"/>
            <a:ext cx="6195441" cy="614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44423" y="4328160"/>
            <a:ext cx="6439281" cy="73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专科会诊 · 工作流自动化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73988" y="5057521"/>
            <a:ext cx="5779897" cy="27995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11428" y="4976241"/>
            <a:ext cx="6105017" cy="29621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89508" y="4915281"/>
            <a:ext cx="6348857" cy="308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眼科/内科/康复专科智能体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多Bot协作模拟MDT会诊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预问诊工作流自动化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症状采集→分诊→建议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76388" y="3612388"/>
            <a:ext cx="6321679" cy="4515612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27" name="Shape 25"/>
          <p:cNvSpPr/>
          <p:nvPr/>
        </p:nvSpPr>
        <p:spPr>
          <a:xfrm>
            <a:off x="7902321" y="3793109"/>
            <a:ext cx="5870321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39761" y="3711829"/>
            <a:ext cx="6195441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617841" y="3650869"/>
            <a:ext cx="6439281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DeepSeek V3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02321" y="4470400"/>
            <a:ext cx="5870321" cy="451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739761" y="4389120"/>
            <a:ext cx="6195441" cy="614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617841" y="4328160"/>
            <a:ext cx="6439281" cy="73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云端大语言模型 · 硅基流动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47279" y="5057521"/>
            <a:ext cx="5779897" cy="27995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84719" y="4976241"/>
            <a:ext cx="6105017" cy="29621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662799" y="4915281"/>
            <a:ext cx="6348857" cy="308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角色"康小智"智慧康养助手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复杂医疗问诊对话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用药安全咨询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个性化康复方案生成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4449679" y="3612388"/>
            <a:ext cx="6321679" cy="4515612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37" name="Shape 35"/>
          <p:cNvSpPr/>
          <p:nvPr/>
        </p:nvSpPr>
        <p:spPr>
          <a:xfrm>
            <a:off x="14675612" y="3793109"/>
            <a:ext cx="5870321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4513052" y="3711829"/>
            <a:ext cx="6195441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4391132" y="3650869"/>
            <a:ext cx="6439281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MindSpore Lite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4675612" y="4470400"/>
            <a:ext cx="5870321" cy="451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4513052" y="4389120"/>
            <a:ext cx="6195441" cy="614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4391132" y="4328160"/>
            <a:ext cx="6439281" cy="73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端侧轻量推理 · 离线可用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4720697" y="5057521"/>
            <a:ext cx="5779897" cy="27995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4558137" y="4976241"/>
            <a:ext cx="6105017" cy="29621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4436217" y="4915281"/>
            <a:ext cx="6348857" cy="308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五维度共病风险评估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实时异常检测（血压/血糖）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中医九种体质辨识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跌倒预测与预警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1223097" y="3612388"/>
            <a:ext cx="6773291" cy="4515612"/>
          </a:xfrm>
          <a:prstGeom prst="roundRect">
            <a:avLst>
              <a:gd name="adj" fmla="val 4000"/>
            </a:avLst>
          </a:prstGeom>
          <a:solidFill>
            <a:srgbClr val="455A64"/>
          </a:solidFill>
          <a:ln/>
        </p:spPr>
      </p:sp>
      <p:sp>
        <p:nvSpPr>
          <p:cNvPr id="47" name="Shape 45"/>
          <p:cNvSpPr/>
          <p:nvPr/>
        </p:nvSpPr>
        <p:spPr>
          <a:xfrm>
            <a:off x="21448903" y="3793109"/>
            <a:ext cx="6321679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21286343" y="3711829"/>
            <a:ext cx="6646799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1164423" y="3650869"/>
            <a:ext cx="6890639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HiAI 华为端侧 AI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21448903" y="4470400"/>
            <a:ext cx="6321679" cy="451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21286343" y="4389120"/>
            <a:ext cx="6646799" cy="614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21164423" y="4328160"/>
            <a:ext cx="6890639" cy="73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NPU 视觉识别 · 硬件加速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1493988" y="5057521"/>
            <a:ext cx="6231509" cy="27995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1331428" y="4976241"/>
            <a:ext cx="6556629" cy="29621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21209508" y="4915281"/>
            <a:ext cx="6800469" cy="308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医学影像7类智能分类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OCR文字识别（古籍/报告）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康复动作姿态检测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老年人跌倒实时检测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3097" y="8669909"/>
            <a:ext cx="27093291" cy="1264412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 w="25400">
            <a:solidFill>
              <a:srgbClr val="5B9BD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54709" y="8669909"/>
            <a:ext cx="26190321" cy="12644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92149" y="8588629"/>
            <a:ext cx="26515441" cy="14269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70229" y="8527669"/>
            <a:ext cx="26759281" cy="154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小艺 Skill 系统：</a:t>
            </a:r>
            <a:pPr>
              <a:lnSpc>
                <a:spcPct val="150000"/>
              </a:lnSpc>
            </a:pPr>
            <a:r>
              <a:rPr lang="en-US" sz="284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个垂直子智能体 + 8 个 Skill 离线包 + 150 万条病理知识库，MCP 协议标准实现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3097" y="10340721"/>
            <a:ext cx="6773291" cy="5871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40537" y="10259441"/>
            <a:ext cx="7098411" cy="7496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18617" y="10198481"/>
            <a:ext cx="7342251" cy="871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智能路由规则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903097" y="11018012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4" name="Shape 62"/>
          <p:cNvSpPr/>
          <p:nvPr/>
        </p:nvSpPr>
        <p:spPr>
          <a:xfrm>
            <a:off x="903097" y="11243691"/>
            <a:ext cx="27093291" cy="33414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40537" y="11162411"/>
            <a:ext cx="27418411" cy="35040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18617" y="11101451"/>
            <a:ext cx="27662251" cy="3625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语音唤醒/简单指令</a:t>
            </a:r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小艺（响应最快）→ 备选 DeepSeek　　• </a:t>
            </a:r>
            <a:pPr>
              <a:lnSpc>
                <a:spcPct val="170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复杂症状问诊</a:t>
            </a:r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DeepSeek（语义理解最强）→ 备选 Coze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专科会诊</a:t>
            </a:r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Coze（专业知识库+工作流）→ 备选 DeepSeek　　• </a:t>
            </a:r>
            <a:pPr>
              <a:lnSpc>
                <a:spcPct val="170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图片/影像分析</a:t>
            </a:r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HiAI（隐私保护本地处理）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健康风险评估</a:t>
            </a:r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MindSpore（隐私+实时性）　　• </a:t>
            </a:r>
            <a:pPr>
              <a:lnSpc>
                <a:spcPct val="170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紧急求救</a:t>
            </a:r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小艺（系统级最高优先级，1.2秒全流程响应）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249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五层 Fallback 降级链</a:t>
            </a:r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：同类AI备选 → 端云切换 → 功能降级 → 离线模式 → 缓存复用，确保服务可用性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837291" y="3160903"/>
            <a:ext cx="22479" cy="99343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1354709" y="4515612"/>
            <a:ext cx="8579612" cy="4515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2149" y="4434332"/>
            <a:ext cx="8904732" cy="4678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0229" y="4373372"/>
            <a:ext cx="9148572" cy="4800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54709" y="9031097"/>
            <a:ext cx="8579612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92149" y="8949817"/>
            <a:ext cx="8904732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70229" y="8888857"/>
            <a:ext cx="9148572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spc="711" kern="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740388" y="5328412"/>
            <a:ext cx="15804388" cy="12644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577828" y="5247132"/>
            <a:ext cx="16129508" cy="14269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55908" y="5186172"/>
            <a:ext cx="16373348" cy="1548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740388" y="6818503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77828" y="6737223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55908" y="6676263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740388" y="8128000"/>
            <a:ext cx="7224903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40388" y="8579612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77828" y="8498332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55908" y="8437372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4.1　五大功能模块体系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740388" y="9392412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77828" y="9311132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55908" y="9250172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4.2　九大核心功能亮点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899612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320000" y="361188"/>
            <a:ext cx="7676388" cy="4966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57440" y="279908"/>
            <a:ext cx="8001508" cy="6592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035520" y="218948"/>
            <a:ext cx="8245348" cy="781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核心功能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3097" y="541909"/>
            <a:ext cx="1896529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0537" y="460629"/>
            <a:ext cx="1929041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8617" y="399669"/>
            <a:ext cx="1953425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五大功能模块体系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3097" y="1535303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903097" y="1851279"/>
            <a:ext cx="5057521" cy="6321679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1354709" y="2167509"/>
            <a:ext cx="722503" cy="7225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8903" y="3070479"/>
            <a:ext cx="4605909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66343" y="2989199"/>
            <a:ext cx="4931029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44423" y="2928239"/>
            <a:ext cx="5174869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安全隐私保护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28903" y="3838321"/>
            <a:ext cx="4605909" cy="406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6343" y="3757041"/>
            <a:ext cx="4931029" cy="4226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44423" y="3696081"/>
            <a:ext cx="5174869" cy="434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数据脱敏系统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分布式加密传输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RBAC权限管理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隐私设置中心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5角色权限控制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12103" y="1851279"/>
            <a:ext cx="5057521" cy="6321679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20" name="Shape 18"/>
          <p:cNvSpPr/>
          <p:nvPr/>
        </p:nvSpPr>
        <p:spPr>
          <a:xfrm>
            <a:off x="6863588" y="2167509"/>
            <a:ext cx="722503" cy="7225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637909" y="3070479"/>
            <a:ext cx="4605909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75349" y="2989199"/>
            <a:ext cx="4931029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53429" y="2928239"/>
            <a:ext cx="5174869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全场景一体协同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37909" y="3838321"/>
            <a:ext cx="4605909" cy="406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75349" y="3757041"/>
            <a:ext cx="4931029" cy="4226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53429" y="3696081"/>
            <a:ext cx="5174869" cy="434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分布式设备管理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跨院数据协同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手表端健康监测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设备发现与管理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多端数据联动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921109" y="1851279"/>
            <a:ext cx="5057521" cy="6321679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28" name="Shape 26"/>
          <p:cNvSpPr/>
          <p:nvPr/>
        </p:nvSpPr>
        <p:spPr>
          <a:xfrm>
            <a:off x="12372721" y="2167509"/>
            <a:ext cx="722503" cy="7225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2146788" y="3070479"/>
            <a:ext cx="4605909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984228" y="2989199"/>
            <a:ext cx="4931029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862308" y="2928239"/>
            <a:ext cx="5174869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智能化体验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146788" y="3838321"/>
            <a:ext cx="4605909" cy="406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984228" y="3757041"/>
            <a:ext cx="4931029" cy="4226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1862308" y="3696081"/>
            <a:ext cx="5174869" cy="434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AI智能问诊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AI会诊系统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风险评估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知识图谱+RAG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古籍AI复原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7429988" y="1851279"/>
            <a:ext cx="5057521" cy="6321679"/>
          </a:xfrm>
          <a:prstGeom prst="roundRect">
            <a:avLst>
              <a:gd name="adj" fmla="val 4000"/>
            </a:avLst>
          </a:prstGeom>
          <a:solidFill>
            <a:srgbClr val="455A64"/>
          </a:solidFill>
          <a:ln/>
        </p:spPr>
      </p:sp>
      <p:sp>
        <p:nvSpPr>
          <p:cNvPr id="36" name="Shape 34"/>
          <p:cNvSpPr/>
          <p:nvPr/>
        </p:nvSpPr>
        <p:spPr>
          <a:xfrm>
            <a:off x="17836388" y="2167509"/>
            <a:ext cx="812800" cy="7225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7655921" y="3070479"/>
            <a:ext cx="4605909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7493361" y="2989199"/>
            <a:ext cx="4931029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7371441" y="2928239"/>
            <a:ext cx="5174869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 空间化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7655921" y="3838321"/>
            <a:ext cx="4605909" cy="406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7493361" y="3757041"/>
            <a:ext cx="4931029" cy="4226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7371441" y="3696081"/>
            <a:ext cx="5174869" cy="434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AR院内导航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人体模型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停车场与反向寻车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目的地选择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导航摘要语音播报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2939121" y="1851279"/>
            <a:ext cx="5057521" cy="6321679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45521" y="2167509"/>
            <a:ext cx="812800" cy="7225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23164800" y="3070479"/>
            <a:ext cx="4605909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3002240" y="2989199"/>
            <a:ext cx="4931029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22880320" y="2928239"/>
            <a:ext cx="5174869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核心业务功能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3164800" y="3838321"/>
            <a:ext cx="4605909" cy="406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23002240" y="3757041"/>
            <a:ext cx="4931029" cy="4226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22880320" y="3696081"/>
            <a:ext cx="5174869" cy="434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患者端健康管理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医生端工作台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护士端护理记录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管理员后台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31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诊前-诊中-诊后全流程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3097" y="8760079"/>
            <a:ext cx="27093291" cy="56443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52" name="Shape 50"/>
          <p:cNvSpPr/>
          <p:nvPr/>
        </p:nvSpPr>
        <p:spPr>
          <a:xfrm>
            <a:off x="1354709" y="9031097"/>
            <a:ext cx="6773291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92149" y="8949817"/>
            <a:ext cx="7098411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70229" y="8888857"/>
            <a:ext cx="7342251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项目规模数据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354709" y="9753600"/>
            <a:ext cx="2619032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6" name="Shape 54"/>
          <p:cNvSpPr/>
          <p:nvPr/>
        </p:nvSpPr>
        <p:spPr>
          <a:xfrm>
            <a:off x="1354709" y="10114788"/>
            <a:ext cx="6096000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192149" y="10033508"/>
            <a:ext cx="6421120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70229" y="9972548"/>
            <a:ext cx="6664960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180+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354709" y="11243691"/>
            <a:ext cx="6096000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92149" y="11162411"/>
            <a:ext cx="6421120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70229" y="11101451"/>
            <a:ext cx="6664960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页面组件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902321" y="10114788"/>
            <a:ext cx="6096000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739761" y="10033508"/>
            <a:ext cx="6421120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7617841" y="9972548"/>
            <a:ext cx="6664960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60+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902321" y="11243691"/>
            <a:ext cx="6096000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739761" y="11162411"/>
            <a:ext cx="6421120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617841" y="11101451"/>
            <a:ext cx="6664960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通用组件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4449679" y="10114788"/>
            <a:ext cx="6096000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4287119" y="10033508"/>
            <a:ext cx="6421120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4165199" y="9972548"/>
            <a:ext cx="6664960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b="1" dirty="0">
                <a:solidFill>
                  <a:srgbClr val="2E86C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4449679" y="11243691"/>
            <a:ext cx="6096000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4287119" y="11162411"/>
            <a:ext cx="6421120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4165199" y="11101451"/>
            <a:ext cx="6664960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服务类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20997291" y="10114788"/>
            <a:ext cx="6096000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20834731" y="10033508"/>
            <a:ext cx="6421120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20712811" y="9972548"/>
            <a:ext cx="6664960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5角色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20997291" y="11243691"/>
            <a:ext cx="6096000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20834731" y="11162411"/>
            <a:ext cx="6421120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20712811" y="11101451"/>
            <a:ext cx="6664960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全覆盖（患者/医生/护士/家属/管理员）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1354709" y="12192000"/>
            <a:ext cx="26190321" cy="1806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192149" y="12110720"/>
            <a:ext cx="26515441" cy="19688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070229" y="12049760"/>
            <a:ext cx="26759281" cy="2090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49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采用分层架构设计：表现层(Pages) → 组件层(Components) → 业务逻辑层(Services/ViewModel) → 能力层(AI/AR/IoT) → 工具层(Utils) → 数据层(Model/Cache)。插件式AI引擎扩展（HiAI/MindSpore/Coze/DeepSeek/小艺），插件式IoT设备控制器，专科Agent可独立开发接入。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905200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150709" y="287909"/>
            <a:ext cx="8009509" cy="660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0028789" y="226949"/>
            <a:ext cx="8253349" cy="782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核心功能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109" y="457200"/>
            <a:ext cx="10160000" cy="982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23189" y="396240"/>
            <a:ext cx="10403840" cy="1104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九大核心功能亮点（一）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7509" y="1540891"/>
            <a:ext cx="27093291" cy="1689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7"/>
          <p:cNvSpPr/>
          <p:nvPr/>
        </p:nvSpPr>
        <p:spPr>
          <a:xfrm>
            <a:off x="897509" y="1778000"/>
            <a:ext cx="27093291" cy="431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897509" y="1778000"/>
            <a:ext cx="84709" cy="4318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1219200" y="2032000"/>
            <a:ext cx="609600" cy="6096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2000" y="1947291"/>
            <a:ext cx="6773291" cy="795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10080" y="1886331"/>
            <a:ext cx="7017131" cy="917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数据脱敏系统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19200" y="2794000"/>
            <a:ext cx="3386709" cy="1689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9200" y="2963291"/>
            <a:ext cx="26382091" cy="296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902331"/>
            <a:ext cx="26625931" cy="308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技术实现：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采用"规则化脱敏 + AI智能识别"双模式，针对姓名、身份证号、手机号、病历详情等医疗敏感数据自动脱敏处理。姓名仅展示姓氏，身份证号隐藏中间8位，手机号隐藏中间4位，病历中遗传病史、隐私部位检查记录等做模糊处理。支持自定义脱敏规则（按场景调整脱敏级别），支持批量/单条数据脱敏，适配门诊、会诊等多场景需求。DataDesensitizer工具类实现全自动脱敏，DesensitizationUtil在分布式传输场景下对数据实时脱敏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核心创新：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多级别脱敏配置灵活适配数据敏感程度，兼顾隐私保护与医疗服务可用性；脱敏过程本地完成，不上传云端，降低数据泄露风险；实现"数据可用不可见"的安全目标。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应用场景：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病历查看、跨院数据同步、AI模型分析等所有敏感数据展示/传输场景。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7509" y="6434709"/>
            <a:ext cx="27093291" cy="431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897509" y="6434709"/>
            <a:ext cx="84709" cy="43180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1100" y="6688709"/>
            <a:ext cx="685800" cy="6096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20" name="Shape 18"/>
          <p:cNvSpPr/>
          <p:nvPr/>
        </p:nvSpPr>
        <p:spPr>
          <a:xfrm>
            <a:off x="2032000" y="6604000"/>
            <a:ext cx="6773291" cy="795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910080" y="6543040"/>
            <a:ext cx="7017131" cy="917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跨院数据协同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19200" y="7450709"/>
            <a:ext cx="3386709" cy="1689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Shape 21"/>
          <p:cNvSpPr/>
          <p:nvPr/>
        </p:nvSpPr>
        <p:spPr>
          <a:xfrm>
            <a:off x="1219200" y="7620000"/>
            <a:ext cx="26382091" cy="296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7559040"/>
            <a:ext cx="26625931" cy="308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技术实现：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KVStore数据同步技术，实现患者转院时病历、健康数据秒级同步，无需重复提交病历。整合分布式软总线技术实现跨设备医疗记录同步，支持手机-手表健康数据双向同步。采用AES-256端到端加密算法，密钥由设备本地生成且定期自动更新，支持断点续传保障数据完整性。SyncManager统一管理同步状态追踪与冲突解决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核心创新：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打破医院信息壁垒，实现病历无缝同步，避免重复检查；多级权限控制（医生/家属/患者三级权限），数据脱敏分级策略（完全/部分/最小化脱敏）；转诊审批工作流自动化。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应用场景：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患者转院治疗、跨院会诊、多医院联合诊疗、家庭成员间数据授权共享。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7509" y="11091291"/>
            <a:ext cx="27093291" cy="431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897509" y="11091291"/>
            <a:ext cx="84709" cy="431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7" name="Shape 25"/>
          <p:cNvSpPr/>
          <p:nvPr/>
        </p:nvSpPr>
        <p:spPr>
          <a:xfrm>
            <a:off x="1295400" y="11345291"/>
            <a:ext cx="457200" cy="6096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2000" y="11260709"/>
            <a:ext cx="6773291" cy="795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910080" y="11199749"/>
            <a:ext cx="7017131" cy="917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 院内导航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19200" y="12107291"/>
            <a:ext cx="3386709" cy="1689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Shape 29"/>
          <p:cNvSpPr/>
          <p:nvPr/>
        </p:nvSpPr>
        <p:spPr>
          <a:xfrm>
            <a:off x="1219200" y="12276709"/>
            <a:ext cx="26382091" cy="296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12215749"/>
            <a:ext cx="26625931" cy="308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技术实现：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基于AR Engine平面检测技术识别现实场景构建实景导航路径，结合Location Kit室内定位与路径规划。四子服务协同工作（路径规划+室内定位+AR渲染+语音引导），标注科室/检查室精确位置，支持室内外无缝切换定位，偏离路线自动检测并动态重新规划。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核心创新：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实景导航直观易懂，适配老年/行动不便患者，解决医院室内导航痛点；偏航检测与动态重规划，到达判定与导航历史记录；支持步行模式和无障碍模式优先规划。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应用场景：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患者就诊找科室/检查室、医生跨院会诊找就诊地点、停车场反向寻车导航。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905200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150709" y="287909"/>
            <a:ext cx="8009509" cy="660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0028789" y="226949"/>
            <a:ext cx="8253349" cy="782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核心功能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109" y="457200"/>
            <a:ext cx="10160000" cy="982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23189" y="396240"/>
            <a:ext cx="10403840" cy="1104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九大核心功能亮点（二）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7509" y="1540891"/>
            <a:ext cx="27093291" cy="1689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7"/>
          <p:cNvSpPr/>
          <p:nvPr/>
        </p:nvSpPr>
        <p:spPr>
          <a:xfrm>
            <a:off x="897509" y="1778000"/>
            <a:ext cx="27093291" cy="431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897509" y="1778000"/>
            <a:ext cx="84709" cy="4318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2032000"/>
            <a:ext cx="762000" cy="6096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2000" y="1947291"/>
            <a:ext cx="6773291" cy="795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10080" y="1886331"/>
            <a:ext cx="7017131" cy="917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智能问诊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19200" y="2794000"/>
            <a:ext cx="3386709" cy="1689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9200" y="2963291"/>
            <a:ext cx="26382091" cy="296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902331"/>
            <a:ext cx="26625931" cy="308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技术实现：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集成DeepSeek V3大模型支持7×24小时自然语言对话问诊，通过硅基流动SiliconFlow提供云端推理服务。用户可通过文本/语音输入症状/健康疑问，AIOrchestrator统一编排层进行智能路由，复杂症状首选DeepSeek进行深度语义分析，AI给出专业解答与建议。完整记录问诊历史，支持流式输出，首字响应低于1秒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核心创新：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无人工干预快速响应，语言通俗易懂适配老年用户；五层Fallback降级链确保服务可用性，从云端到端侧无缝切换；支持多轮对话上下文管理，思维链推理逐步推导诊断过程。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应用场景：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日常健康咨询、轻微症状初步问诊、术后康复指导、临时就医咨询、用药安全咨询。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7509" y="6434709"/>
            <a:ext cx="27093291" cy="431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897509" y="6434709"/>
            <a:ext cx="84709" cy="43180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9" name="Shape 17"/>
          <p:cNvSpPr/>
          <p:nvPr/>
        </p:nvSpPr>
        <p:spPr>
          <a:xfrm>
            <a:off x="1257300" y="6688709"/>
            <a:ext cx="533400" cy="6096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20" name="Shape 18"/>
          <p:cNvSpPr/>
          <p:nvPr/>
        </p:nvSpPr>
        <p:spPr>
          <a:xfrm>
            <a:off x="2032000" y="6604000"/>
            <a:ext cx="6773291" cy="795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910080" y="6543040"/>
            <a:ext cx="7017131" cy="917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会诊系统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19200" y="7450709"/>
            <a:ext cx="3386709" cy="1689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Shape 21"/>
          <p:cNvSpPr/>
          <p:nvPr/>
        </p:nvSpPr>
        <p:spPr>
          <a:xfrm>
            <a:off x="1219200" y="7620000"/>
            <a:ext cx="26382091" cy="296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7559040"/>
            <a:ext cx="26625931" cy="308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技术实现：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基于多智能体协作+医疗知识图谱，支持跨专科AI协同会诊。集成Coze扣子平台三专科智能体（眼科/内科/康复），通过工作流Bot串联多个专业智能体，自动识别专科问题并调用对应领域知识解答。主Bot负责接收症状并路由分发，协调4个专科子Bot独立分析，最终综合各专科意见生成诊断建议，模拟真实MDT多学科会诊模式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核心创新：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打破专科壁垒，内科+外科、中医+西医多学科AI协同；会诊记录完整可追溯，支持语音会诊方便远程沟通；预问诊工作流自动化（症状采集→信息整理→智能分诊→就医建议）。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应用场景：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复杂疾病诊断、跨专科联合诊疗、远程会诊、预问诊与随访管理。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7509" y="11091291"/>
            <a:ext cx="27093291" cy="431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897509" y="11091291"/>
            <a:ext cx="84709" cy="431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7" name="Shape 25"/>
          <p:cNvSpPr/>
          <p:nvPr/>
        </p:nvSpPr>
        <p:spPr>
          <a:xfrm>
            <a:off x="1219200" y="11345291"/>
            <a:ext cx="609600" cy="6096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2000" y="11260709"/>
            <a:ext cx="6773291" cy="795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910080" y="11199749"/>
            <a:ext cx="7017131" cy="917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医疗影像分析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19200" y="12107291"/>
            <a:ext cx="3386709" cy="1689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Shape 29"/>
          <p:cNvSpPr/>
          <p:nvPr/>
        </p:nvSpPr>
        <p:spPr>
          <a:xfrm>
            <a:off x="1219200" y="12276709"/>
            <a:ext cx="26382091" cy="296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12215749"/>
            <a:ext cx="26625931" cy="308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技术实现：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集成HiAI端侧AI影像识别技术，对CT、X光片等医疗影像进行智能分析。支持医学影像7类智能分类（胸部X光/CT扫描/MRI磁共振/超声图像/病理切片/检验报告/中医古籍），NPU硬件加速推理实现端侧实时处理，响应延迟低于100ms。OCR文字识别覆盖处方单、检验报告、古籍医书三大场景，准确率超95%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核心创新：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标注异常区域/病变类型，自动生成分析报告辅助医生诊断，影像分类准确率超90%；多级置信度阈值机制支持人工确认流程；端侧推理保护隐私，敏感医疗影像数据不出设备。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应用场景：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医生影像诊断辅助、患者查看影像报告、科研人员影像数据分析、中医古籍文献识别。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905200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150709" y="287909"/>
            <a:ext cx="8009509" cy="660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0028789" y="226949"/>
            <a:ext cx="8253349" cy="782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核心功能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109" y="457200"/>
            <a:ext cx="10160000" cy="982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23189" y="396240"/>
            <a:ext cx="10403840" cy="1104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九大核心功能亮点（三）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7509" y="1540891"/>
            <a:ext cx="27093291" cy="1689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7"/>
          <p:cNvSpPr/>
          <p:nvPr/>
        </p:nvSpPr>
        <p:spPr>
          <a:xfrm>
            <a:off x="897509" y="1778000"/>
            <a:ext cx="27093291" cy="431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897509" y="1778000"/>
            <a:ext cx="84709" cy="4318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1" name="Shape 9"/>
          <p:cNvSpPr/>
          <p:nvPr/>
        </p:nvSpPr>
        <p:spPr>
          <a:xfrm>
            <a:off x="1257300" y="2032000"/>
            <a:ext cx="533400" cy="6096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2032000" y="1947291"/>
            <a:ext cx="8466709" cy="795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10080" y="1886331"/>
            <a:ext cx="8710549" cy="917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古籍 AI 复原与处理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19200" y="2794000"/>
            <a:ext cx="3386709" cy="1689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9200" y="2963291"/>
            <a:ext cx="26382091" cy="296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902331"/>
            <a:ext cx="26625931" cy="308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技术实现：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集成OCR文字识别+图像复原技术，对中医古籍、药方古籍进行数字化处理。采用超分辨率重建+色彩还原技术，构建8阶段图像处理流水线（导入-预处理-超分辨率修复-OCR文字识别-智能校准-优化增强-导出-备份），完整修复古籍与医疗影像。HiAI视觉能力集成用于处理质量评估，支持批量处理与进度回调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核心创新：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传统医学典籍与AI结合实现数字化传承；8阶段精细化处理流水线，古代汉字专项优化，支持繁体竖排文字识别；结构化知识抽取，方剂智能提取与知识图谱自动构建。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应用场景：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古籍数字化整理、医疗影像修复、模糊病历还原、方剂智能提取与知识图谱构建。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97509" y="6434709"/>
            <a:ext cx="27093291" cy="431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18" name="Shape 16"/>
          <p:cNvSpPr/>
          <p:nvPr/>
        </p:nvSpPr>
        <p:spPr>
          <a:xfrm>
            <a:off x="897509" y="6434709"/>
            <a:ext cx="84709" cy="43180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9" name="Shape 17"/>
          <p:cNvSpPr/>
          <p:nvPr/>
        </p:nvSpPr>
        <p:spPr>
          <a:xfrm>
            <a:off x="1219200" y="6688709"/>
            <a:ext cx="609600" cy="60960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20" name="Shape 18"/>
          <p:cNvSpPr/>
          <p:nvPr/>
        </p:nvSpPr>
        <p:spPr>
          <a:xfrm>
            <a:off x="2032000" y="6604000"/>
            <a:ext cx="8466709" cy="795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910080" y="6543040"/>
            <a:ext cx="8710549" cy="917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知识图谱与 RAG 检索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19200" y="7450709"/>
            <a:ext cx="3386709" cy="1689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Shape 21"/>
          <p:cNvSpPr/>
          <p:nvPr/>
        </p:nvSpPr>
        <p:spPr>
          <a:xfrm>
            <a:off x="1219200" y="7620000"/>
            <a:ext cx="26382091" cy="296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7559040"/>
            <a:ext cx="26625931" cy="308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技术实现：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将疾病、症状、药品、治疗方案等医疗知识构建可视化知识图谱，基于Canvas 2D/3D图形绘制实现交互式探索，点击节点查看详细/关联知识。RAG混合检索结合关键词+向量检索技术，精准查询医疗知识、病历、健康建议。集成150万条标准化病理知识库，通过检索增强生成技术按需检索相关知识片段，提升AI回答准确性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核心创新：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知识可视化提升获取效率，点击节点查看详细/关联知识；混合检索规避单一方式局限性，兼顾速度与准确性；智能关联推荐，结构化中药数据库支持药材对比分析与配伍禁忌提示。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应用场景：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医疗知识学习、疾病治疗方案查询、科研数据检索、中药百科信息查询、配伍禁忌提示。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7509" y="11091291"/>
            <a:ext cx="27093291" cy="431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897509" y="11091291"/>
            <a:ext cx="84709" cy="431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7" name="Shape 25"/>
          <p:cNvSpPr/>
          <p:nvPr/>
        </p:nvSpPr>
        <p:spPr>
          <a:xfrm>
            <a:off x="1295400" y="11345291"/>
            <a:ext cx="457200" cy="6096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8" name="Shape 26"/>
          <p:cNvSpPr/>
          <p:nvPr/>
        </p:nvSpPr>
        <p:spPr>
          <a:xfrm>
            <a:off x="2032000" y="11260709"/>
            <a:ext cx="8466709" cy="795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910080" y="11199749"/>
            <a:ext cx="8710549" cy="917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语音助手与 AI 平台集成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19200" y="12107291"/>
            <a:ext cx="3386709" cy="1689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Shape 29"/>
          <p:cNvSpPr/>
          <p:nvPr/>
        </p:nvSpPr>
        <p:spPr>
          <a:xfrm>
            <a:off x="1219200" y="12276709"/>
            <a:ext cx="26382091" cy="296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12215749"/>
            <a:ext cx="26625931" cy="308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技术实现：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对接系统原生语音助手（小艺），开发8大专属健康技能（健康数据查询/AI智能问诊/用药提醒/AR导航/紧急呼救/设备连接/康复训练/风险评估），通过MCP协议标准实现统一接口调度。第三方AI平台深度集成（Coze/DeepSeek/HiAI/MindSpore），补充对话/检索/生成能力，AIOrchestrator统一编排层实现五大AI引擎智能协同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核心创新：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系统级语音交互提升体验，紧急场景1.2秒极速响应；多模态响应机制（语音+UI双通道），支持多轮对话与上下文记忆；意图分类自动路由至专业Agent，第三方AI集成降低开发成本，五层Fallback保障服务可用性。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应用场景：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语音控制医疗功能、复杂AI交互、多轮对话问诊、老年用户无障碍操作、紧急SOS一键呼救。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905200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150709" y="287909"/>
            <a:ext cx="8009509" cy="660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0028789" y="226949"/>
            <a:ext cx="8253349" cy="782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核心功能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5109" y="457200"/>
            <a:ext cx="11430000" cy="982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23189" y="396240"/>
            <a:ext cx="11673840" cy="1104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九大核心功能亮点 · 应用截图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7509" y="1540891"/>
            <a:ext cx="27093291" cy="16891"/>
          </a:xfrm>
          <a:prstGeom prst="rect">
            <a:avLst/>
          </a:prstGeom>
          <a:solidFill>
            <a:srgbClr val="E0E0E0"/>
          </a:solidFill>
          <a:ln/>
        </p:spPr>
      </p:sp>
      <p:pic>
        <p:nvPicPr>
          <p:cNvPr id="9" name="Image 0" descr="https://kimi-img.moonshot.cn/pub/slides/okc/i4a3nbiu4q7rg/mnt/agents/output/converted/images/feature_1_desensitization.png">    </p:cNvPr>
          <p:cNvPicPr>
            <a:picLocks noChangeAspect="1"/>
          </p:cNvPicPr>
          <p:nvPr/>
        </p:nvPicPr>
        <p:blipFill>
          <a:blip r:embed="rId1"/>
          <a:srcRect l="0" r="0" t="37890" b="37890"/>
          <a:stretch/>
        </p:blipFill>
        <p:spPr>
          <a:xfrm>
            <a:off x="1016000" y="1778000"/>
            <a:ext cx="8128000" cy="4318000"/>
          </a:xfrm>
          <a:prstGeom prst="roundRect">
            <a:avLst>
              <a:gd name="adj" fmla="val 4000"/>
            </a:avLst>
          </a:prstGeom>
        </p:spPr>
      </p:pic>
      <p:sp>
        <p:nvSpPr>
          <p:cNvPr id="10" name="Text 7"/>
          <p:cNvSpPr/>
          <p:nvPr/>
        </p:nvSpPr>
        <p:spPr>
          <a:xfrm>
            <a:off x="1016000" y="6197600"/>
            <a:ext cx="812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① 数据脱敏系统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16000" y="6667500"/>
            <a:ext cx="8128000" cy="25400"/>
          </a:xfrm>
          <a:prstGeom prst="rect">
            <a:avLst/>
          </a:prstGeom>
          <a:solidFill>
            <a:srgbClr val="1A4A7A"/>
          </a:solidFill>
          <a:ln/>
        </p:spPr>
      </p:sp>
      <p:pic>
        <p:nvPicPr>
          <p:cNvPr id="12" name="Image 1" descr="https://kimi-img.moonshot.cn/pub/slides/okc/i4a3nbiu4q7rg/mnt/agents/output/converted/images/feature_2_cross_hospital.png">    </p:cNvPr>
          <p:cNvPicPr>
            <a:picLocks noChangeAspect="1"/>
          </p:cNvPicPr>
          <p:nvPr/>
        </p:nvPicPr>
        <p:blipFill>
          <a:blip r:embed="rId2"/>
          <a:srcRect l="0" r="0" t="37653" b="37653"/>
          <a:stretch/>
        </p:blipFill>
        <p:spPr>
          <a:xfrm>
            <a:off x="10388600" y="1778000"/>
            <a:ext cx="8128000" cy="4318000"/>
          </a:xfrm>
          <a:prstGeom prst="roundRect">
            <a:avLst>
              <a:gd name="adj" fmla="val 4000"/>
            </a:avLst>
          </a:prstGeom>
        </p:spPr>
      </p:pic>
      <p:sp>
        <p:nvSpPr>
          <p:cNvPr id="13" name="Text 9"/>
          <p:cNvSpPr/>
          <p:nvPr/>
        </p:nvSpPr>
        <p:spPr>
          <a:xfrm>
            <a:off x="10388600" y="6197600"/>
            <a:ext cx="812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② 跨院数据协同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10388600" y="6667500"/>
            <a:ext cx="8128000" cy="25400"/>
          </a:xfrm>
          <a:prstGeom prst="rect">
            <a:avLst/>
          </a:prstGeom>
          <a:solidFill>
            <a:srgbClr val="5B9BD5"/>
          </a:solidFill>
          <a:ln/>
        </p:spPr>
      </p:sp>
      <p:pic>
        <p:nvPicPr>
          <p:cNvPr id="15" name="Image 2" descr="https://kimi-img.moonshot.cn/pub/slides/okc/i4a3nbiu4q7rg/mnt/agents/output/converted/images/feature_3_ar_navigation.png">    </p:cNvPr>
          <p:cNvPicPr>
            <a:picLocks noChangeAspect="1"/>
          </p:cNvPicPr>
          <p:nvPr/>
        </p:nvPicPr>
        <p:blipFill>
          <a:blip r:embed="rId3"/>
          <a:srcRect l="0" r="0" t="37970" b="37970"/>
          <a:stretch/>
        </p:blipFill>
        <p:spPr>
          <a:xfrm>
            <a:off x="19761200" y="1778000"/>
            <a:ext cx="8128000" cy="4318000"/>
          </a:xfrm>
          <a:prstGeom prst="roundRect">
            <a:avLst>
              <a:gd name="adj" fmla="val 4000"/>
            </a:avLst>
          </a:prstGeom>
        </p:spPr>
      </p:pic>
      <p:sp>
        <p:nvSpPr>
          <p:cNvPr id="16" name="Text 11"/>
          <p:cNvSpPr/>
          <p:nvPr/>
        </p:nvSpPr>
        <p:spPr>
          <a:xfrm>
            <a:off x="19761200" y="6197600"/>
            <a:ext cx="812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③ AR 院内导航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19761200" y="6667500"/>
            <a:ext cx="8128000" cy="25400"/>
          </a:xfrm>
          <a:prstGeom prst="rect">
            <a:avLst/>
          </a:prstGeom>
          <a:solidFill>
            <a:srgbClr val="2E86C1"/>
          </a:solidFill>
          <a:ln/>
        </p:spPr>
      </p:sp>
      <p:pic>
        <p:nvPicPr>
          <p:cNvPr id="18" name="Image 3" descr="https://kimi-img.moonshot.cn/pub/slides/okc/i4a3nbiu4q7rg/mnt/agents/output/converted/images/feature_4_ai_consultation.png">    </p:cNvPr>
          <p:cNvPicPr>
            <a:picLocks noChangeAspect="1"/>
          </p:cNvPicPr>
          <p:nvPr/>
        </p:nvPicPr>
        <p:blipFill>
          <a:blip r:embed="rId4"/>
          <a:srcRect l="0" r="0" t="37079" b="37079"/>
          <a:stretch/>
        </p:blipFill>
        <p:spPr>
          <a:xfrm>
            <a:off x="1016000" y="7048500"/>
            <a:ext cx="8128000" cy="4318000"/>
          </a:xfrm>
          <a:prstGeom prst="roundRect">
            <a:avLst>
              <a:gd name="adj" fmla="val 4000"/>
            </a:avLst>
          </a:prstGeom>
        </p:spPr>
      </p:pic>
      <p:sp>
        <p:nvSpPr>
          <p:cNvPr id="19" name="Text 13"/>
          <p:cNvSpPr/>
          <p:nvPr/>
        </p:nvSpPr>
        <p:spPr>
          <a:xfrm>
            <a:off x="1016000" y="11468100"/>
            <a:ext cx="812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④ AI 智能问诊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1016000" y="11938000"/>
            <a:ext cx="8128000" cy="25400"/>
          </a:xfrm>
          <a:prstGeom prst="rect">
            <a:avLst/>
          </a:prstGeom>
          <a:solidFill>
            <a:srgbClr val="1A4A7A"/>
          </a:solidFill>
          <a:ln/>
        </p:spPr>
      </p:sp>
      <p:pic>
        <p:nvPicPr>
          <p:cNvPr id="21" name="Image 4" descr="https://kimi-img.moonshot.cn/pub/slides/okc/i4a3nbiu4q7rg/mnt/agents/output/converted/images/feature_5_ai_conference.png">    </p:cNvPr>
          <p:cNvPicPr>
            <a:picLocks noChangeAspect="1"/>
          </p:cNvPicPr>
          <p:nvPr/>
        </p:nvPicPr>
        <p:blipFill>
          <a:blip r:embed="rId5"/>
          <a:srcRect l="0" r="0" t="2628" b="2628"/>
          <a:stretch/>
        </p:blipFill>
        <p:spPr>
          <a:xfrm>
            <a:off x="10388600" y="7048500"/>
            <a:ext cx="8128000" cy="4318000"/>
          </a:xfrm>
          <a:prstGeom prst="roundRect">
            <a:avLst>
              <a:gd name="adj" fmla="val 4000"/>
            </a:avLst>
          </a:prstGeom>
        </p:spPr>
      </p:pic>
      <p:sp>
        <p:nvSpPr>
          <p:cNvPr id="22" name="Text 15"/>
          <p:cNvSpPr/>
          <p:nvPr/>
        </p:nvSpPr>
        <p:spPr>
          <a:xfrm>
            <a:off x="10388600" y="11468100"/>
            <a:ext cx="812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⑤ AI 会诊系统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10388600" y="11938000"/>
            <a:ext cx="8128000" cy="25400"/>
          </a:xfrm>
          <a:prstGeom prst="rect">
            <a:avLst/>
          </a:prstGeom>
          <a:solidFill>
            <a:srgbClr val="5B9BD5"/>
          </a:solidFill>
          <a:ln/>
        </p:spPr>
      </p:sp>
      <p:pic>
        <p:nvPicPr>
          <p:cNvPr id="24" name="Image 5" descr="https://kimi-img.moonshot.cn/pub/slides/okc/i4a3nbiu4q7rg/mnt/agents/output/converted/images/feature_6_medical_imaging.png">    </p:cNvPr>
          <p:cNvPicPr>
            <a:picLocks noChangeAspect="1"/>
          </p:cNvPicPr>
          <p:nvPr/>
        </p:nvPicPr>
        <p:blipFill>
          <a:blip r:embed="rId6"/>
          <a:srcRect l="0" r="0" t="37870" b="37870"/>
          <a:stretch/>
        </p:blipFill>
        <p:spPr>
          <a:xfrm>
            <a:off x="19761200" y="7048500"/>
            <a:ext cx="8128000" cy="4318000"/>
          </a:xfrm>
          <a:prstGeom prst="roundRect">
            <a:avLst>
              <a:gd name="adj" fmla="val 4000"/>
            </a:avLst>
          </a:prstGeom>
        </p:spPr>
      </p:pic>
      <p:sp>
        <p:nvSpPr>
          <p:cNvPr id="25" name="Text 17"/>
          <p:cNvSpPr/>
          <p:nvPr/>
        </p:nvSpPr>
        <p:spPr>
          <a:xfrm>
            <a:off x="19761200" y="11468100"/>
            <a:ext cx="812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⑥ 医疗影像分析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19761200" y="11938000"/>
            <a:ext cx="8128000" cy="25400"/>
          </a:xfrm>
          <a:prstGeom prst="rect">
            <a:avLst/>
          </a:prstGeom>
          <a:solidFill>
            <a:srgbClr val="2E86C1"/>
          </a:solidFill>
          <a:ln/>
        </p:spPr>
      </p:sp>
      <p:pic>
        <p:nvPicPr>
          <p:cNvPr id="27" name="Image 6" descr="https://kimi-img.moonshot.cn/pub/slides/okc/i4a3nbiu4q7rg/mnt/agents/output/converted/images/feature_7_ancient_restoration.png">    </p:cNvPr>
          <p:cNvPicPr>
            <a:picLocks noChangeAspect="1"/>
          </p:cNvPicPr>
          <p:nvPr/>
        </p:nvPicPr>
        <p:blipFill>
          <a:blip r:embed="rId7"/>
          <a:srcRect l="0" r="0" t="40416" b="40416"/>
          <a:stretch/>
        </p:blipFill>
        <p:spPr>
          <a:xfrm>
            <a:off x="1016000" y="12319000"/>
            <a:ext cx="8128000" cy="3429000"/>
          </a:xfrm>
          <a:prstGeom prst="roundRect">
            <a:avLst>
              <a:gd name="adj" fmla="val 4000"/>
            </a:avLst>
          </a:prstGeom>
        </p:spPr>
      </p:pic>
      <p:sp>
        <p:nvSpPr>
          <p:cNvPr id="28" name="Text 19"/>
          <p:cNvSpPr/>
          <p:nvPr/>
        </p:nvSpPr>
        <p:spPr>
          <a:xfrm>
            <a:off x="1016000" y="15849600"/>
            <a:ext cx="812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⑦ 古籍 AI 复原与处理</a:t>
            </a:r>
            <a:endParaRPr lang="en-US" sz="1600" dirty="0"/>
          </a:p>
        </p:txBody>
      </p:sp>
      <p:pic>
        <p:nvPicPr>
          <p:cNvPr id="29" name="Image 7" descr="https://kimi-img.moonshot.cn/pub/slides/okc/i4a3nbiu4q7rg/mnt/agents/output/converted/images/feature_8_knowledge_graph.png">    </p:cNvPr>
          <p:cNvPicPr>
            <a:picLocks noChangeAspect="1"/>
          </p:cNvPicPr>
          <p:nvPr/>
        </p:nvPicPr>
        <p:blipFill>
          <a:blip r:embed="rId8"/>
          <a:srcRect l="0" r="0" t="39936" b="39936"/>
          <a:stretch/>
        </p:blipFill>
        <p:spPr>
          <a:xfrm>
            <a:off x="10388600" y="12319000"/>
            <a:ext cx="8128000" cy="3429000"/>
          </a:xfrm>
          <a:prstGeom prst="roundRect">
            <a:avLst>
              <a:gd name="adj" fmla="val 4000"/>
            </a:avLst>
          </a:prstGeom>
        </p:spPr>
      </p:pic>
      <p:sp>
        <p:nvSpPr>
          <p:cNvPr id="30" name="Text 20"/>
          <p:cNvSpPr/>
          <p:nvPr/>
        </p:nvSpPr>
        <p:spPr>
          <a:xfrm>
            <a:off x="10388600" y="15849600"/>
            <a:ext cx="812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⑧ 知识图谱与 RAG 检索</a:t>
            </a:r>
            <a:endParaRPr lang="en-US" sz="1600" dirty="0"/>
          </a:p>
        </p:txBody>
      </p:sp>
      <p:pic>
        <p:nvPicPr>
          <p:cNvPr id="31" name="Image 8" descr="https://kimi-img.moonshot.cn/pub/slides/okc/i4a3nbiu4q7rg/mnt/agents/output/converted/images/feature_9_voice_assistant.png">    </p:cNvPr>
          <p:cNvPicPr>
            <a:picLocks noChangeAspect="1"/>
          </p:cNvPicPr>
          <p:nvPr/>
        </p:nvPicPr>
        <p:blipFill>
          <a:blip r:embed="rId9"/>
          <a:srcRect l="0" r="0" t="40285" b="40285"/>
          <a:stretch/>
        </p:blipFill>
        <p:spPr>
          <a:xfrm>
            <a:off x="19761200" y="12319000"/>
            <a:ext cx="8128000" cy="3429000"/>
          </a:xfrm>
          <a:prstGeom prst="roundRect">
            <a:avLst>
              <a:gd name="adj" fmla="val 4000"/>
            </a:avLst>
          </a:prstGeom>
        </p:spPr>
      </p:pic>
      <p:sp>
        <p:nvSpPr>
          <p:cNvPr id="32" name="Text 21"/>
          <p:cNvSpPr/>
          <p:nvPr/>
        </p:nvSpPr>
        <p:spPr>
          <a:xfrm>
            <a:off x="19761200" y="15849600"/>
            <a:ext cx="812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⑨ 语音助手与 AI 平台集成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837291" y="3160903"/>
            <a:ext cx="22479" cy="99343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1354709" y="4515612"/>
            <a:ext cx="8579612" cy="4515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2149" y="4434332"/>
            <a:ext cx="8904732" cy="4678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0229" y="4373372"/>
            <a:ext cx="9148572" cy="4800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54709" y="9031097"/>
            <a:ext cx="8579612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92149" y="8949817"/>
            <a:ext cx="8904732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70229" y="8888857"/>
            <a:ext cx="9148572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spc="711" kern="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FIVE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740388" y="5328412"/>
            <a:ext cx="15804388" cy="12644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577828" y="5247132"/>
            <a:ext cx="16129508" cy="14269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55908" y="5186172"/>
            <a:ext cx="16373348" cy="1548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市场与价值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740388" y="6818503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77828" y="6737223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55908" y="6676263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&amp; Value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740388" y="8128000"/>
            <a:ext cx="7224903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40388" y="8579612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77828" y="8498332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55908" y="8437372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5.1　市场分析与竞争优势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740388" y="9392412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77828" y="9311132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55908" y="9250172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5.2　项目多维价值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899612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320000" y="361188"/>
            <a:ext cx="7676388" cy="4966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57440" y="279908"/>
            <a:ext cx="8001508" cy="6592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035520" y="218948"/>
            <a:ext cx="8245348" cy="781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市场与价值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3097" y="541909"/>
            <a:ext cx="1896529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0537" y="460629"/>
            <a:ext cx="1929041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8617" y="399669"/>
            <a:ext cx="1953425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市场分析与竞争优势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3097" y="1535303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903097" y="1851279"/>
            <a:ext cx="13320903" cy="858012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903097" y="1851279"/>
            <a:ext cx="13320903" cy="8580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0537" y="1769999"/>
            <a:ext cx="13646023" cy="10205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18617" y="1709039"/>
            <a:ext cx="13889863" cy="1142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市场规模与趋势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3097" y="2980309"/>
            <a:ext cx="4199509" cy="2032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03097" y="3115691"/>
            <a:ext cx="4199509" cy="9030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0537" y="3034411"/>
            <a:ext cx="4524629" cy="10656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8617" y="2973451"/>
            <a:ext cx="4768469" cy="1187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97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2000亿+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3097" y="4064000"/>
            <a:ext cx="41995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0537" y="3982720"/>
            <a:ext cx="4524629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18617" y="3921760"/>
            <a:ext cx="47684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2023年市场规模（元）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63921" y="2980309"/>
            <a:ext cx="4199509" cy="2032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23" name="Shape 21"/>
          <p:cNvSpPr/>
          <p:nvPr/>
        </p:nvSpPr>
        <p:spPr>
          <a:xfrm>
            <a:off x="5463921" y="3115691"/>
            <a:ext cx="4199509" cy="9030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301361" y="3034411"/>
            <a:ext cx="4524629" cy="10656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179441" y="2973451"/>
            <a:ext cx="4768469" cy="1187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97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8亿+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63921" y="4064000"/>
            <a:ext cx="41995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01361" y="3982720"/>
            <a:ext cx="4524629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179441" y="3921760"/>
            <a:ext cx="47684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鸿蒙设备数量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24491" y="2980309"/>
            <a:ext cx="4199509" cy="2032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24491" y="3115691"/>
            <a:ext cx="4199509" cy="9030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861931" y="3034411"/>
            <a:ext cx="4524629" cy="10656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740011" y="2973451"/>
            <a:ext cx="4768469" cy="11875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970" b="1" dirty="0">
                <a:solidFill>
                  <a:srgbClr val="2E86C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2亿+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24491" y="4064000"/>
            <a:ext cx="41995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861931" y="3982720"/>
            <a:ext cx="4524629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740011" y="3921760"/>
            <a:ext cx="4768469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目标用户规模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64412" y="5418709"/>
            <a:ext cx="12598400" cy="8579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01852" y="5337429"/>
            <a:ext cx="12923520" cy="8742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79932" y="5276469"/>
            <a:ext cx="13167360" cy="88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67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五大市场趋势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①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267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多端协同成为标配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：跨设备健康管理体验需求提升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② 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深度赋能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：从"数据展示"向"AI分析+个性化干预"升级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③ 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隐私安全要求提升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：合规精细化隐私管理成为必备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④ 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场景化落地加速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：从通用型向老年看护/慢性病管理细分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⑤ 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鸿蒙生态加速渗透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：适配鸿蒙能力产品获更多市场机会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700"/>
              </a:spcBef>
            </a:pPr>
            <a:r>
              <a:rPr lang="en-US" sz="267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市场定位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聚焦家庭、社区场景的老年看护与慢性病管理，主打"多端协同、AI全周期分析、隐私安全"三大核心优势。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4675612" y="1851279"/>
            <a:ext cx="13320903" cy="858012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40" name="Shape 38"/>
          <p:cNvSpPr/>
          <p:nvPr/>
        </p:nvSpPr>
        <p:spPr>
          <a:xfrm>
            <a:off x="14675612" y="1851279"/>
            <a:ext cx="13320903" cy="8580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4513052" y="1769999"/>
            <a:ext cx="13646023" cy="10205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4391132" y="1709039"/>
            <a:ext cx="13889863" cy="11424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竞争优势分析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75612" y="2980309"/>
          <a:ext cx="13320903" cy="5870321"/>
        </p:xfrm>
        <a:graphic>
          <a:graphicData uri="http://schemas.openxmlformats.org/drawingml/2006/table">
            <a:tbl>
              <a:tblPr/>
              <a:tblGrid>
                <a:gridCol w="3729853"/>
                <a:gridCol w="4795525"/>
                <a:gridCol w="4795525"/>
              </a:tblGrid>
              <a:tr h="1062731"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对比维度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代表竞品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星云智联优势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1201898"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技术壁垒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单一终端，无分布式能力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HarmonyOS分布式软总线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201898"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场景深度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基础运动健康监测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老年看护/慢性病管理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1201898"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体验差异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通用型交互设计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差异化界面定制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201898"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安全防护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基础加密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9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全链路+精细化授权</a:t>
                      </a:r>
                      <a:endParaRPr lang="en-US" sz="249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14675612" y="9301988"/>
            <a:ext cx="6457188" cy="2257679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45" name="Shape 42"/>
          <p:cNvSpPr/>
          <p:nvPr/>
        </p:nvSpPr>
        <p:spPr>
          <a:xfrm>
            <a:off x="14901291" y="9482709"/>
            <a:ext cx="6005703" cy="1896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14738731" y="9401429"/>
            <a:ext cx="6330823" cy="20590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14616811" y="9340469"/>
            <a:ext cx="6574663" cy="2180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4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技术优势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分布式软总线多端协同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21539200" y="9301988"/>
            <a:ext cx="6457188" cy="2257679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49" name="Shape 46"/>
          <p:cNvSpPr/>
          <p:nvPr/>
        </p:nvSpPr>
        <p:spPr>
          <a:xfrm>
            <a:off x="21764879" y="9482709"/>
            <a:ext cx="6005703" cy="1896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21602319" y="9401429"/>
            <a:ext cx="6330823" cy="20590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21480399" y="9340469"/>
            <a:ext cx="6574663" cy="2180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4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场景优势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深耕老年/慢性病垂直场景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14675612" y="11921109"/>
            <a:ext cx="6457188" cy="2257679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53" name="Shape 50"/>
          <p:cNvSpPr/>
          <p:nvPr/>
        </p:nvSpPr>
        <p:spPr>
          <a:xfrm>
            <a:off x="14901291" y="12101703"/>
            <a:ext cx="6005703" cy="1896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14738731" y="12020423"/>
            <a:ext cx="6330823" cy="20590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14616811" y="11959463"/>
            <a:ext cx="6574663" cy="2180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4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体验优势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差异化交互界面定制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21539200" y="11921109"/>
            <a:ext cx="6457188" cy="2257679"/>
          </a:xfrm>
          <a:prstGeom prst="roundRect">
            <a:avLst>
              <a:gd name="adj" fmla="val 4000"/>
            </a:avLst>
          </a:prstGeom>
          <a:solidFill>
            <a:srgbClr val="455A64"/>
          </a:solidFill>
          <a:ln/>
        </p:spPr>
      </p:sp>
      <p:sp>
        <p:nvSpPr>
          <p:cNvPr id="57" name="Shape 54"/>
          <p:cNvSpPr/>
          <p:nvPr/>
        </p:nvSpPr>
        <p:spPr>
          <a:xfrm>
            <a:off x="21764879" y="12101703"/>
            <a:ext cx="6005703" cy="1896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21602319" y="12020423"/>
            <a:ext cx="6330823" cy="20590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" name="Text 56"/>
          <p:cNvSpPr/>
          <p:nvPr/>
        </p:nvSpPr>
        <p:spPr>
          <a:xfrm>
            <a:off x="21480399" y="11959463"/>
            <a:ext cx="6574663" cy="2180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4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安全优势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全链路加密+精细化授权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899612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320000" y="361188"/>
            <a:ext cx="7676388" cy="4966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57440" y="279908"/>
            <a:ext cx="8001508" cy="6592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035520" y="218948"/>
            <a:ext cx="8245348" cy="781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市场与价值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3097" y="541909"/>
            <a:ext cx="1896529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0537" y="460629"/>
            <a:ext cx="1929041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8617" y="399669"/>
            <a:ext cx="1953425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项目多维价值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3097" y="1535303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903097" y="1851279"/>
            <a:ext cx="13095097" cy="6096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903097" y="1851279"/>
            <a:ext cx="13095097" cy="1128903"/>
          </a:xfrm>
          <a:prstGeom prst="roundRect">
            <a:avLst>
              <a:gd name="adj" fmla="val 4000"/>
            </a:avLst>
          </a:prstGeom>
          <a:solidFill>
            <a:srgbClr val="12396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5291" y="2077212"/>
            <a:ext cx="790321" cy="6320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77212" y="1851279"/>
            <a:ext cx="11469497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914652" y="1769999"/>
            <a:ext cx="11794617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792732" y="1709039"/>
            <a:ext cx="12038457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用户价值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64412" y="3296412"/>
            <a:ext cx="12372721" cy="43348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01852" y="3215132"/>
            <a:ext cx="12697841" cy="44974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79932" y="3154172"/>
            <a:ext cx="12941681" cy="4619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中老年用户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：简化健康数据查看与管理，获得个性化建议与紧急预警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中青年子女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：远程看护家人健康，及时掌握异常情况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看护人/医护人员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：高效管理多成员健康数据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慢性病患者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：精准健康分析与干预建议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4901291" y="1851279"/>
            <a:ext cx="13095097" cy="6096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21" name="Shape 19"/>
          <p:cNvSpPr/>
          <p:nvPr/>
        </p:nvSpPr>
        <p:spPr>
          <a:xfrm>
            <a:off x="14901291" y="1851279"/>
            <a:ext cx="13095097" cy="1128903"/>
          </a:xfrm>
          <a:prstGeom prst="roundRect">
            <a:avLst>
              <a:gd name="adj" fmla="val 4000"/>
            </a:avLst>
          </a:prstGeom>
          <a:solidFill>
            <a:srgbClr val="3A6A9A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23109" y="2077212"/>
            <a:ext cx="711200" cy="6320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75279" y="1851279"/>
            <a:ext cx="11469497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5912719" y="1769999"/>
            <a:ext cx="11794617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790799" y="1709039"/>
            <a:ext cx="12038457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技术价值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5262479" y="3296412"/>
            <a:ext cx="12372721" cy="43348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099919" y="3215132"/>
            <a:ext cx="12697841" cy="44974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4977999" y="3154172"/>
            <a:ext cx="12941681" cy="4619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验证 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HarmonyOS 分布式软总线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在智慧医疗场景的落地可行性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探索 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轻量化 AI 模型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在终端侧的部署与应用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降低健康应用对云端依赖，提升响应速度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构建 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全链路数据安全防护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体系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3097" y="8398891"/>
            <a:ext cx="13095097" cy="6096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30" name="Shape 28"/>
          <p:cNvSpPr/>
          <p:nvPr/>
        </p:nvSpPr>
        <p:spPr>
          <a:xfrm>
            <a:off x="903097" y="8398891"/>
            <a:ext cx="13095097" cy="1128903"/>
          </a:xfrm>
          <a:prstGeom prst="roundRect">
            <a:avLst>
              <a:gd name="adj" fmla="val 4000"/>
            </a:avLst>
          </a:prstGeom>
          <a:solidFill>
            <a:srgbClr val="1E6A7E"/>
          </a:solidFill>
          <a:ln/>
        </p:spPr>
      </p:sp>
      <p:sp>
        <p:nvSpPr>
          <p:cNvPr id="31" name="Shape 29"/>
          <p:cNvSpPr/>
          <p:nvPr/>
        </p:nvSpPr>
        <p:spPr>
          <a:xfrm>
            <a:off x="1264412" y="8624697"/>
            <a:ext cx="632079" cy="6320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077212" y="8398891"/>
            <a:ext cx="11469497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14652" y="8317611"/>
            <a:ext cx="11794617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792732" y="8256651"/>
            <a:ext cx="12038457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行业价值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64412" y="9843897"/>
            <a:ext cx="12372721" cy="43348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01852" y="9762617"/>
            <a:ext cx="12697841" cy="44974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979932" y="9701657"/>
            <a:ext cx="12941681" cy="4619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推动智慧健康从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"单一终端、基础监测"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向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"多端协同、AI驱动、全周期管理"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升级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促进健康设备、终端、医疗服务的互联互通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打破行业数据孤岛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为老年看护/慢性病管理提供可落地解决方案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4901291" y="8398891"/>
            <a:ext cx="13095097" cy="6096000"/>
          </a:xfrm>
          <a:prstGeom prst="roundRect">
            <a:avLst>
              <a:gd name="adj" fmla="val 4000"/>
            </a:avLst>
          </a:prstGeom>
          <a:solidFill>
            <a:srgbClr val="455A64"/>
          </a:solidFill>
          <a:ln/>
        </p:spPr>
      </p:sp>
      <p:sp>
        <p:nvSpPr>
          <p:cNvPr id="39" name="Shape 37"/>
          <p:cNvSpPr/>
          <p:nvPr/>
        </p:nvSpPr>
        <p:spPr>
          <a:xfrm>
            <a:off x="14901291" y="8398891"/>
            <a:ext cx="13095097" cy="1128903"/>
          </a:xfrm>
          <a:prstGeom prst="roundRect">
            <a:avLst>
              <a:gd name="adj" fmla="val 4000"/>
            </a:avLst>
          </a:prstGeom>
          <a:solidFill>
            <a:srgbClr val="2C3E42"/>
          </a:solidFill>
          <a:ln/>
        </p:spPr>
      </p:sp>
      <p:sp>
        <p:nvSpPr>
          <p:cNvPr id="40" name="Shape 38"/>
          <p:cNvSpPr/>
          <p:nvPr/>
        </p:nvSpPr>
        <p:spPr>
          <a:xfrm>
            <a:off x="15262479" y="8624697"/>
            <a:ext cx="632079" cy="6320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6075279" y="8398891"/>
            <a:ext cx="11469497" cy="11289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5912719" y="8317611"/>
            <a:ext cx="11794617" cy="12914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5790799" y="8256651"/>
            <a:ext cx="12038457" cy="1413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生态价值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5262479" y="9843897"/>
            <a:ext cx="12372721" cy="43348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5099919" y="9762617"/>
            <a:ext cx="12697841" cy="44974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4977999" y="9701657"/>
            <a:ext cx="12941681" cy="4619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丰富 </a:t>
            </a:r>
            <a:pPr>
              <a:lnSpc>
                <a:spcPct val="170000"/>
              </a:lnSpc>
            </a:pPr>
            <a:r>
              <a:rPr lang="en-US" sz="267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鸿蒙生态</a:t>
            </a:r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的智慧医疗场景应用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提升鸿蒙生态在民生领域的覆盖度与影响力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推动鸿蒙设备的普及与落地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67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为行业提供可复用的技术参考方案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10837291" y="3160903"/>
            <a:ext cx="22479" cy="993432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" name="Shape 2"/>
          <p:cNvSpPr/>
          <p:nvPr/>
        </p:nvSpPr>
        <p:spPr>
          <a:xfrm>
            <a:off x="1354709" y="4515612"/>
            <a:ext cx="8579612" cy="45156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92149" y="4434332"/>
            <a:ext cx="8904732" cy="46781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0229" y="4373372"/>
            <a:ext cx="9148572" cy="4800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54709" y="9031097"/>
            <a:ext cx="8579612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92149" y="8949817"/>
            <a:ext cx="8904732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70229" y="8888857"/>
            <a:ext cx="9148572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40" spc="711" kern="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SIX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740388" y="5328412"/>
            <a:ext cx="15804388" cy="12644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577828" y="5247132"/>
            <a:ext cx="16129508" cy="14269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55908" y="5186172"/>
            <a:ext cx="16373348" cy="1548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740388" y="6818503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77828" y="6737223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455908" y="6676263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AAAA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&amp; Outlook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740388" y="8128000"/>
            <a:ext cx="7224903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740388" y="8579612"/>
            <a:ext cx="15804388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577828" y="8498332"/>
            <a:ext cx="16129508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455908" y="8437372"/>
            <a:ext cx="16373348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6.1　项目完成度与未来规划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899612" cy="67691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20320000" y="361188"/>
            <a:ext cx="7676388" cy="49669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0157440" y="279908"/>
            <a:ext cx="8001508" cy="6592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0035520" y="218948"/>
            <a:ext cx="8245348" cy="781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3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总结与展望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03097" y="541909"/>
            <a:ext cx="18965291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0537" y="460629"/>
            <a:ext cx="19290411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18617" y="399669"/>
            <a:ext cx="19534251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63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项目完成度与未来规划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3097" y="1535303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903097" y="1851279"/>
            <a:ext cx="27093291" cy="1264412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12" name="Shape 10"/>
          <p:cNvSpPr/>
          <p:nvPr/>
        </p:nvSpPr>
        <p:spPr>
          <a:xfrm>
            <a:off x="1354709" y="1851279"/>
            <a:ext cx="26190321" cy="12644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92149" y="1769999"/>
            <a:ext cx="26515441" cy="14269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70229" y="1709039"/>
            <a:ext cx="26759281" cy="1548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6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项目整体完成度：约 82%</a:t>
            </a:r>
            <a:pPr>
              <a:lnSpc>
                <a:spcPct val="100000"/>
              </a:lnSpc>
            </a:pPr>
            <a:r>
              <a:rPr lang="en-US" sz="356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　|　核心功能已实现，可满足基础医疗场景使用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3097" y="3476879"/>
            <a:ext cx="6773291" cy="5871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40537" y="3395599"/>
            <a:ext cx="7098411" cy="7496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18617" y="3334639"/>
            <a:ext cx="7342251" cy="871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各模块完成度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3097" y="4154297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Shape 17"/>
          <p:cNvSpPr/>
          <p:nvPr/>
        </p:nvSpPr>
        <p:spPr>
          <a:xfrm>
            <a:off x="903097" y="4425188"/>
            <a:ext cx="4515612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0537" y="4343908"/>
            <a:ext cx="4840732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18617" y="4282948"/>
            <a:ext cx="5084572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安全隐私保护模块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44388" y="4515612"/>
            <a:ext cx="13546709" cy="361188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5644388" y="4515612"/>
            <a:ext cx="11514709" cy="361188"/>
          </a:xfrm>
          <a:prstGeom prst="roundRect">
            <a:avLst>
              <a:gd name="adj" fmla="val 50000"/>
            </a:avLst>
          </a:prstGeom>
          <a:solidFill>
            <a:srgbClr val="1A4A7A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16903" y="4425188"/>
            <a:ext cx="1354709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254343" y="4343908"/>
            <a:ext cx="1679829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9132423" y="4282948"/>
            <a:ext cx="1923669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9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3097" y="5147691"/>
            <a:ext cx="4515612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0537" y="5066411"/>
            <a:ext cx="4840732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18617" y="5005451"/>
            <a:ext cx="5084572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全场景一体协同模块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44388" y="5237988"/>
            <a:ext cx="13546709" cy="361188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5644388" y="5237988"/>
            <a:ext cx="10837291" cy="361188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16903" y="5147691"/>
            <a:ext cx="1354709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254343" y="5066411"/>
            <a:ext cx="1679829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9132423" y="5005451"/>
            <a:ext cx="1923669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90" b="1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03097" y="5870321"/>
            <a:ext cx="4515612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40537" y="5789041"/>
            <a:ext cx="4840732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18617" y="5728081"/>
            <a:ext cx="5084572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智能化体验模块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644388" y="5960491"/>
            <a:ext cx="13546709" cy="361188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/>
        </p:spPr>
      </p:sp>
      <p:sp>
        <p:nvSpPr>
          <p:cNvPr id="39" name="Shape 37"/>
          <p:cNvSpPr/>
          <p:nvPr/>
        </p:nvSpPr>
        <p:spPr>
          <a:xfrm>
            <a:off x="5644388" y="5960491"/>
            <a:ext cx="11785600" cy="361188"/>
          </a:xfrm>
          <a:prstGeom prst="roundRect">
            <a:avLst>
              <a:gd name="adj" fmla="val 50000"/>
            </a:avLst>
          </a:prstGeom>
          <a:solidFill>
            <a:srgbClr val="2E86C1"/>
          </a:solidFill>
          <a:ln/>
        </p:spPr>
      </p:sp>
      <p:sp>
        <p:nvSpPr>
          <p:cNvPr id="40" name="Shape 38"/>
          <p:cNvSpPr/>
          <p:nvPr/>
        </p:nvSpPr>
        <p:spPr>
          <a:xfrm>
            <a:off x="19416903" y="5870321"/>
            <a:ext cx="1354709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9254343" y="5789041"/>
            <a:ext cx="1679829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9132423" y="5728081"/>
            <a:ext cx="1923669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90" b="1" dirty="0">
                <a:solidFill>
                  <a:srgbClr val="2E86C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87%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3097" y="6592697"/>
            <a:ext cx="4515612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40537" y="6511417"/>
            <a:ext cx="4840732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18617" y="6450457"/>
            <a:ext cx="5084572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 空间化模块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644388" y="6683121"/>
            <a:ext cx="13546709" cy="361188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/>
        </p:spPr>
      </p:sp>
      <p:sp>
        <p:nvSpPr>
          <p:cNvPr id="47" name="Shape 45"/>
          <p:cNvSpPr/>
          <p:nvPr/>
        </p:nvSpPr>
        <p:spPr>
          <a:xfrm>
            <a:off x="5644388" y="6683121"/>
            <a:ext cx="10160000" cy="361188"/>
          </a:xfrm>
          <a:prstGeom prst="roundRect">
            <a:avLst>
              <a:gd name="adj" fmla="val 50000"/>
            </a:avLst>
          </a:prstGeom>
          <a:solidFill>
            <a:srgbClr val="455A64"/>
          </a:solidFill>
          <a:ln/>
        </p:spPr>
      </p:sp>
      <p:sp>
        <p:nvSpPr>
          <p:cNvPr id="48" name="Shape 46"/>
          <p:cNvSpPr/>
          <p:nvPr/>
        </p:nvSpPr>
        <p:spPr>
          <a:xfrm>
            <a:off x="19416903" y="6592697"/>
            <a:ext cx="1354709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9254343" y="6511417"/>
            <a:ext cx="1679829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9132423" y="6450457"/>
            <a:ext cx="1923669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9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75%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3097" y="7315200"/>
            <a:ext cx="4515612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0537" y="7233920"/>
            <a:ext cx="4840732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18617" y="7172960"/>
            <a:ext cx="5084572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核心业务功能模块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644388" y="7405497"/>
            <a:ext cx="13546709" cy="361188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/>
        </p:spPr>
      </p:sp>
      <p:sp>
        <p:nvSpPr>
          <p:cNvPr id="55" name="Shape 53"/>
          <p:cNvSpPr/>
          <p:nvPr/>
        </p:nvSpPr>
        <p:spPr>
          <a:xfrm>
            <a:off x="5644388" y="7405497"/>
            <a:ext cx="11921109" cy="361188"/>
          </a:xfrm>
          <a:prstGeom prst="roundRect">
            <a:avLst>
              <a:gd name="adj" fmla="val 50000"/>
            </a:avLst>
          </a:prstGeom>
          <a:solidFill>
            <a:srgbClr val="1A4A7A"/>
          </a:solidFill>
          <a:ln/>
        </p:spPr>
      </p:sp>
      <p:sp>
        <p:nvSpPr>
          <p:cNvPr id="56" name="Shape 54"/>
          <p:cNvSpPr/>
          <p:nvPr/>
        </p:nvSpPr>
        <p:spPr>
          <a:xfrm>
            <a:off x="19416903" y="7315200"/>
            <a:ext cx="1354709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9254343" y="7233920"/>
            <a:ext cx="1679829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9132423" y="7172960"/>
            <a:ext cx="1923669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9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88%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03097" y="8218297"/>
            <a:ext cx="6773291" cy="5871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0537" y="8137017"/>
            <a:ext cx="7098411" cy="7496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18617" y="8076057"/>
            <a:ext cx="7342251" cy="871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产品迭代规划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03097" y="8895588"/>
            <a:ext cx="27093291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3" name="Shape 61"/>
          <p:cNvSpPr/>
          <p:nvPr/>
        </p:nvSpPr>
        <p:spPr>
          <a:xfrm>
            <a:off x="903097" y="9211691"/>
            <a:ext cx="8579612" cy="5192903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64" name="Shape 62"/>
          <p:cNvSpPr/>
          <p:nvPr/>
        </p:nvSpPr>
        <p:spPr>
          <a:xfrm>
            <a:off x="903097" y="9211691"/>
            <a:ext cx="8579612" cy="812800"/>
          </a:xfrm>
          <a:prstGeom prst="roundRect">
            <a:avLst>
              <a:gd name="adj" fmla="val 4000"/>
            </a:avLst>
          </a:prstGeom>
          <a:solidFill>
            <a:srgbClr val="1A4A7A"/>
          </a:solidFill>
          <a:ln/>
        </p:spPr>
      </p:sp>
      <p:sp>
        <p:nvSpPr>
          <p:cNvPr id="65" name="Shape 63"/>
          <p:cNvSpPr/>
          <p:nvPr/>
        </p:nvSpPr>
        <p:spPr>
          <a:xfrm>
            <a:off x="903097" y="9211691"/>
            <a:ext cx="8579612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40537" y="9130411"/>
            <a:ext cx="8904732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618617" y="9069451"/>
            <a:ext cx="9148572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短期（1年内）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264412" y="10295509"/>
            <a:ext cx="7857109" cy="3838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101852" y="10214229"/>
            <a:ext cx="8182229" cy="40008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979932" y="10153269"/>
            <a:ext cx="8426069" cy="412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完善更多品牌/类型健康设备适配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迭代AI分析模型，提升慢性病风险预警精准度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增加心理健康分析（情绪识别）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新增"社区健康打卡""在线问诊对接"功能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0160000" y="9211691"/>
            <a:ext cx="8579612" cy="5192903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72" name="Shape 70"/>
          <p:cNvSpPr/>
          <p:nvPr/>
        </p:nvSpPr>
        <p:spPr>
          <a:xfrm>
            <a:off x="10160000" y="9211691"/>
            <a:ext cx="8579612" cy="812800"/>
          </a:xfrm>
          <a:prstGeom prst="roundRect">
            <a:avLst>
              <a:gd name="adj" fmla="val 4000"/>
            </a:avLst>
          </a:prstGeom>
          <a:solidFill>
            <a:srgbClr val="5B9BD5"/>
          </a:solidFill>
          <a:ln/>
        </p:spPr>
      </p:sp>
      <p:sp>
        <p:nvSpPr>
          <p:cNvPr id="73" name="Shape 71"/>
          <p:cNvSpPr/>
          <p:nvPr/>
        </p:nvSpPr>
        <p:spPr>
          <a:xfrm>
            <a:off x="10160000" y="9211691"/>
            <a:ext cx="8579612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997440" y="9130411"/>
            <a:ext cx="8904732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9875520" y="9069451"/>
            <a:ext cx="9148572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中期（1-2年）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0521188" y="10295509"/>
            <a:ext cx="7857109" cy="3838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0358628" y="10214229"/>
            <a:ext cx="8182229" cy="40008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10236708" y="10153269"/>
            <a:ext cx="8426069" cy="412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构建健康数据平台，为药企/医疗机构提供数据服务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适配鸿蒙智能手表、车载终端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与养老机构、社区医院、药店深度合作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"线上监测+线下服务"一体化方案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9416903" y="9211691"/>
            <a:ext cx="8579612" cy="5192903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</p:sp>
      <p:sp>
        <p:nvSpPr>
          <p:cNvPr id="80" name="Shape 78"/>
          <p:cNvSpPr/>
          <p:nvPr/>
        </p:nvSpPr>
        <p:spPr>
          <a:xfrm>
            <a:off x="19416903" y="9211691"/>
            <a:ext cx="8579612" cy="812800"/>
          </a:xfrm>
          <a:prstGeom prst="roundRect">
            <a:avLst>
              <a:gd name="adj" fmla="val 4000"/>
            </a:avLst>
          </a:prstGeom>
          <a:solidFill>
            <a:srgbClr val="2E86C1"/>
          </a:solidFill>
          <a:ln/>
        </p:spPr>
      </p:sp>
      <p:sp>
        <p:nvSpPr>
          <p:cNvPr id="81" name="Shape 79"/>
          <p:cNvSpPr/>
          <p:nvPr/>
        </p:nvSpPr>
        <p:spPr>
          <a:xfrm>
            <a:off x="19416903" y="9211691"/>
            <a:ext cx="8579612" cy="81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9254343" y="9130411"/>
            <a:ext cx="8904732" cy="9753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19132423" y="9069451"/>
            <a:ext cx="9148572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9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长期（2-3年）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19778091" y="10295509"/>
            <a:ext cx="7857109" cy="38383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9615531" y="10214229"/>
            <a:ext cx="8182229" cy="40008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19493611" y="10153269"/>
            <a:ext cx="8426069" cy="4122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打造鸿蒙生态健康服务入口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整合疫苗预约、体检预约等更多健康服务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跨生态拓展，适配其他智能终端系统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49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技术方案/隐私防护方案标准化输出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509" cy="16256000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031097"/>
            <a:ext cx="28899612" cy="7224903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1806321" y="2257679"/>
            <a:ext cx="24835612" cy="21675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43761" y="2176399"/>
            <a:ext cx="25160732" cy="23300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21841" y="2115439"/>
            <a:ext cx="25404572" cy="24519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80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感谢聆听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06321" y="4651121"/>
            <a:ext cx="20320000" cy="72250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43761" y="4569841"/>
            <a:ext cx="20645120" cy="8850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21841" y="4508881"/>
            <a:ext cx="20888960" cy="10069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60" spc="889" kern="0" dirty="0">
                <a:solidFill>
                  <a:srgbClr val="5B9BD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06321" y="5779897"/>
            <a:ext cx="25287097" cy="22479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1806321" y="6276721"/>
            <a:ext cx="1806232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643761" y="6195441"/>
            <a:ext cx="18387441" cy="83985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21841" y="6134481"/>
            <a:ext cx="18631281" cy="9617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560" b="1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星云智联团队</a:t>
            </a:r>
            <a:pPr>
              <a:lnSpc>
                <a:spcPct val="100000"/>
              </a:lnSpc>
            </a:pPr>
            <a:r>
              <a:rPr lang="en-US" sz="3560" dirty="0">
                <a:solidFill>
                  <a:srgbClr val="1A4A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　|　分布式AI全周期智慧健康管理平台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06321" y="7179691"/>
            <a:ext cx="18062321" cy="5871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43761" y="7098411"/>
            <a:ext cx="18387441" cy="7496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521841" y="7037451"/>
            <a:ext cx="18631281" cy="871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团队成员：于世杰 · 李健 · 刘丰泽 · 李映奎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806321" y="7947279"/>
            <a:ext cx="18062321" cy="58712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43761" y="7865999"/>
            <a:ext cx="18387441" cy="74968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521841" y="7805039"/>
            <a:ext cx="18631281" cy="871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40" dirty="0">
                <a:solidFill>
                  <a:srgbClr val="66666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技术栈：HarmonyOS · ArkTS · Spring Boot · AI大模型 · 分布式软总线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806321" y="9889109"/>
            <a:ext cx="18062321" cy="126441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43761" y="9807829"/>
            <a:ext cx="18387441" cy="142697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521841" y="9746869"/>
            <a:ext cx="18631281" cy="1548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806321" y="11379200"/>
            <a:ext cx="18062321" cy="63207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643761" y="11297920"/>
            <a:ext cx="18387441" cy="79463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21841" y="11236960"/>
            <a:ext cx="18631281" cy="9165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期待您的指导与建议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093291" y="15352903"/>
            <a:ext cx="1128903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930731" y="15271623"/>
            <a:ext cx="1454023" cy="70446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6808811" y="15210663"/>
            <a:ext cx="1697863" cy="8263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490" dirty="0">
                <a:solidFill>
                  <a:srgbClr val="FFFFFF">
                    <a:alpha val="5254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Untitled</dc:subject>
  <dc:creator>Kimi</dc:creator>
  <cp:lastModifiedBy>Kimi</cp:lastModifiedBy>
  <cp:revision>1</cp:revision>
  <dcterms:created xsi:type="dcterms:W3CDTF">2026-05-15T14:53:41Z</dcterms:created>
  <dcterms:modified xsi:type="dcterms:W3CDTF">2026-05-15T14:53:41Z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{"Label":"Untitled","ContentProducer":"001191110108MACG2KBH8F10000","ProduceID":"19e2c1e8-cbe2-8708-8000-0000720c21ed","ReservedCode1":"","ContentPropagator":"001191110108MACG2KBH8F20000","PropagateID":"19e2c1e8-cbe2-8708-8000-0000720c21ed","ReservedCode2":""}</vt:lpwstr>
  </property>
</Properties>
</file>